
<file path=[Content_Types].xml><?xml version="1.0" encoding="utf-8"?>
<Types xmlns="http://schemas.openxmlformats.org/package/2006/content-types">
  <Default Extension="tmp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2" r:id="rId1"/>
  </p:sldMasterIdLst>
  <p:notesMasterIdLst>
    <p:notesMasterId r:id="rId23"/>
  </p:notesMasterIdLst>
  <p:sldIdLst>
    <p:sldId id="278" r:id="rId2"/>
    <p:sldId id="277" r:id="rId3"/>
    <p:sldId id="279" r:id="rId4"/>
    <p:sldId id="281" r:id="rId5"/>
    <p:sldId id="282" r:id="rId6"/>
    <p:sldId id="283" r:id="rId7"/>
    <p:sldId id="284" r:id="rId8"/>
    <p:sldId id="285" r:id="rId9"/>
    <p:sldId id="286" r:id="rId10"/>
    <p:sldId id="280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90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B0E47-E09B-405D-A2D7-5EB260406024}" type="datetimeFigureOut">
              <a:rPr lang="en-US" smtClean="0"/>
              <a:t>1/6/2021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C957-ECBC-43B9-8573-3DE5ABEA4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5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1B9F7-DA18-4ACB-A39C-A8A4C3DE4A2B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6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6735-EC32-4844-87BE-AD845B2DD442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3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324-CC2A-4F7C-86F0-6F857778BB0E}" type="datetime1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3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7A8D-D8C8-461B-9D14-1376F0CFF038}" type="datetime1">
              <a:rPr lang="en-US" smtClean="0"/>
              <a:t>1/6/2021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8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5CB9-9E7E-4988-A27F-16EF5AF19977}" type="datetime1">
              <a:rPr lang="en-US" smtClean="0"/>
              <a:t>1/6/2021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4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9F07-249C-448F-8568-2D3B8B9DE39F}" type="datetime1">
              <a:rPr lang="en-US" smtClean="0"/>
              <a:t>1/6/2021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76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D81F1-0652-471C-84BC-13A40DAFD407}" type="datetime1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5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3A4A-3F98-4553-AC6F-C20A2F0E74DD}" type="datetime1">
              <a:rPr lang="en-US" smtClean="0"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4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D05C-27C4-4BB3-868F-DB555A248CC0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7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6F39-E1E4-4FBF-8C64-BA5E57774404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3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14F-5673-46C9-B1D2-B1CB18DE90BE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CD40A-BAFB-460A-83CC-63551598A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10" Type="http://schemas.openxmlformats.org/officeDocument/2006/relationships/image" Target="../media/image9.tmp"/><Relationship Id="rId4" Type="http://schemas.openxmlformats.org/officeDocument/2006/relationships/image" Target="../media/image3.tmp"/><Relationship Id="rId9" Type="http://schemas.openxmlformats.org/officeDocument/2006/relationships/image" Target="../media/image8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tmp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image" Target="../media/image24.png"/><Relationship Id="rId12" Type="http://schemas.openxmlformats.org/officeDocument/2006/relationships/image" Target="../media/image98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12.tmp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7.png"/><Relationship Id="rId24" Type="http://schemas.openxmlformats.org/officeDocument/2006/relationships/image" Target="../media/image27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96.png"/><Relationship Id="rId19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95.png"/><Relationship Id="rId14" Type="http://schemas.openxmlformats.org/officeDocument/2006/relationships/image" Target="../media/image14.tmp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13.tmp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tmp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13.png"/><Relationship Id="rId21" Type="http://schemas.openxmlformats.org/officeDocument/2006/relationships/image" Target="../media/image40.png"/><Relationship Id="rId12" Type="http://schemas.openxmlformats.org/officeDocument/2006/relationships/image" Target="../media/image98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2" Type="http://schemas.openxmlformats.org/officeDocument/2006/relationships/image" Target="../media/image12.tmp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7.png"/><Relationship Id="rId24" Type="http://schemas.openxmlformats.org/officeDocument/2006/relationships/image" Target="../media/image43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10" Type="http://schemas.openxmlformats.org/officeDocument/2006/relationships/image" Target="../media/image96.png"/><Relationship Id="rId19" Type="http://schemas.openxmlformats.org/officeDocument/2006/relationships/image" Target="../media/image38.png"/><Relationship Id="rId4" Type="http://schemas.openxmlformats.org/officeDocument/2006/relationships/image" Target="../media/image14.png"/><Relationship Id="rId9" Type="http://schemas.openxmlformats.org/officeDocument/2006/relationships/image" Target="../media/image95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tmp"/><Relationship Id="rId18" Type="http://schemas.openxmlformats.org/officeDocument/2006/relationships/image" Target="../media/image51.png"/><Relationship Id="rId3" Type="http://schemas.openxmlformats.org/officeDocument/2006/relationships/image" Target="../media/image12.tmp"/><Relationship Id="rId12" Type="http://schemas.openxmlformats.org/officeDocument/2006/relationships/image" Target="../media/image98.png"/><Relationship Id="rId17" Type="http://schemas.openxmlformats.org/officeDocument/2006/relationships/image" Target="../media/image50.png"/><Relationship Id="rId2" Type="http://schemas.openxmlformats.org/officeDocument/2006/relationships/image" Target="../media/image15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7.png"/><Relationship Id="rId5" Type="http://schemas.openxmlformats.org/officeDocument/2006/relationships/image" Target="../media/image14.png"/><Relationship Id="rId15" Type="http://schemas.openxmlformats.org/officeDocument/2006/relationships/image" Target="../media/image48.png"/><Relationship Id="rId10" Type="http://schemas.openxmlformats.org/officeDocument/2006/relationships/image" Target="../media/image96.png"/><Relationship Id="rId19" Type="http://schemas.openxmlformats.org/officeDocument/2006/relationships/image" Target="../media/image52.png"/><Relationship Id="rId4" Type="http://schemas.openxmlformats.org/officeDocument/2006/relationships/image" Target="../media/image13.png"/><Relationship Id="rId9" Type="http://schemas.openxmlformats.org/officeDocument/2006/relationships/image" Target="../media/image95.pn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tmp"/><Relationship Id="rId18" Type="http://schemas.openxmlformats.org/officeDocument/2006/relationships/image" Target="../media/image55.png"/><Relationship Id="rId3" Type="http://schemas.openxmlformats.org/officeDocument/2006/relationships/image" Target="../media/image4.tmp"/><Relationship Id="rId7" Type="http://schemas.openxmlformats.org/officeDocument/2006/relationships/image" Target="../media/image14.png"/><Relationship Id="rId12" Type="http://schemas.openxmlformats.org/officeDocument/2006/relationships/image" Target="../media/image98.png"/><Relationship Id="rId17" Type="http://schemas.openxmlformats.org/officeDocument/2006/relationships/image" Target="../media/image46.png"/><Relationship Id="rId2" Type="http://schemas.openxmlformats.org/officeDocument/2006/relationships/image" Target="../media/image3.tmp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97.png"/><Relationship Id="rId5" Type="http://schemas.openxmlformats.org/officeDocument/2006/relationships/image" Target="../media/image12.tmp"/><Relationship Id="rId15" Type="http://schemas.openxmlformats.org/officeDocument/2006/relationships/image" Target="../media/image54.png"/><Relationship Id="rId10" Type="http://schemas.openxmlformats.org/officeDocument/2006/relationships/image" Target="../media/image96.png"/><Relationship Id="rId19" Type="http://schemas.openxmlformats.org/officeDocument/2006/relationships/image" Target="../media/image56.png"/><Relationship Id="rId4" Type="http://schemas.openxmlformats.org/officeDocument/2006/relationships/image" Target="../media/image1.tmp"/><Relationship Id="rId9" Type="http://schemas.openxmlformats.org/officeDocument/2006/relationships/image" Target="../media/image95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tmp"/><Relationship Id="rId18" Type="http://schemas.openxmlformats.org/officeDocument/2006/relationships/image" Target="../media/image61.png"/><Relationship Id="rId3" Type="http://schemas.openxmlformats.org/officeDocument/2006/relationships/image" Target="../media/image13.png"/><Relationship Id="rId12" Type="http://schemas.openxmlformats.org/officeDocument/2006/relationships/image" Target="../media/image98.png"/><Relationship Id="rId17" Type="http://schemas.openxmlformats.org/officeDocument/2006/relationships/image" Target="../media/image60.png"/><Relationship Id="rId2" Type="http://schemas.openxmlformats.org/officeDocument/2006/relationships/image" Target="../media/image12.tmp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7.png"/><Relationship Id="rId15" Type="http://schemas.openxmlformats.org/officeDocument/2006/relationships/image" Target="../media/image58.png"/><Relationship Id="rId10" Type="http://schemas.openxmlformats.org/officeDocument/2006/relationships/image" Target="../media/image96.png"/><Relationship Id="rId4" Type="http://schemas.openxmlformats.org/officeDocument/2006/relationships/image" Target="../media/image14.png"/><Relationship Id="rId9" Type="http://schemas.openxmlformats.org/officeDocument/2006/relationships/image" Target="../media/image95.png"/><Relationship Id="rId1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tmp"/><Relationship Id="rId18" Type="http://schemas.openxmlformats.org/officeDocument/2006/relationships/image" Target="../media/image68.png"/><Relationship Id="rId3" Type="http://schemas.openxmlformats.org/officeDocument/2006/relationships/image" Target="../media/image62.png"/><Relationship Id="rId12" Type="http://schemas.openxmlformats.org/officeDocument/2006/relationships/image" Target="../media/image98.png"/><Relationship Id="rId17" Type="http://schemas.openxmlformats.org/officeDocument/2006/relationships/image" Target="../media/image67.png"/><Relationship Id="rId2" Type="http://schemas.openxmlformats.org/officeDocument/2006/relationships/image" Target="../media/image12.tmp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7.png"/><Relationship Id="rId15" Type="http://schemas.openxmlformats.org/officeDocument/2006/relationships/image" Target="../media/image65.png"/><Relationship Id="rId10" Type="http://schemas.openxmlformats.org/officeDocument/2006/relationships/image" Target="../media/image96.png"/><Relationship Id="rId19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95.png"/><Relationship Id="rId1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5.png"/><Relationship Id="rId18" Type="http://schemas.openxmlformats.org/officeDocument/2006/relationships/image" Target="../media/image210.png"/><Relationship Id="rId26" Type="http://schemas.openxmlformats.org/officeDocument/2006/relationships/image" Target="../media/image82.png"/><Relationship Id="rId39" Type="http://schemas.openxmlformats.org/officeDocument/2006/relationships/image" Target="../media/image99.png"/><Relationship Id="rId21" Type="http://schemas.openxmlformats.org/officeDocument/2006/relationships/image" Target="../media/image70.tmp"/><Relationship Id="rId34" Type="http://schemas.openxmlformats.org/officeDocument/2006/relationships/image" Target="../media/image90.png"/><Relationship Id="rId42" Type="http://schemas.openxmlformats.org/officeDocument/2006/relationships/image" Target="../media/image102.png"/><Relationship Id="rId47" Type="http://schemas.openxmlformats.org/officeDocument/2006/relationships/image" Target="../media/image107.png"/><Relationship Id="rId2" Type="http://schemas.openxmlformats.org/officeDocument/2006/relationships/image" Target="../media/image71.png"/><Relationship Id="rId16" Type="http://schemas.openxmlformats.org/officeDocument/2006/relationships/image" Target="../media/image208.png"/><Relationship Id="rId20" Type="http://schemas.openxmlformats.org/officeDocument/2006/relationships/image" Target="../media/image77.png"/><Relationship Id="rId29" Type="http://schemas.openxmlformats.org/officeDocument/2006/relationships/image" Target="../media/image85.png"/><Relationship Id="rId41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03.png"/><Relationship Id="rId24" Type="http://schemas.openxmlformats.org/officeDocument/2006/relationships/image" Target="../media/image80.png"/><Relationship Id="rId32" Type="http://schemas.openxmlformats.org/officeDocument/2006/relationships/image" Target="../media/image88.png"/><Relationship Id="rId37" Type="http://schemas.openxmlformats.org/officeDocument/2006/relationships/image" Target="../media/image93.png"/><Relationship Id="rId40" Type="http://schemas.openxmlformats.org/officeDocument/2006/relationships/image" Target="../media/image100.png"/><Relationship Id="rId45" Type="http://schemas.openxmlformats.org/officeDocument/2006/relationships/image" Target="../media/image105.png"/><Relationship Id="rId15" Type="http://schemas.openxmlformats.org/officeDocument/2006/relationships/image" Target="../media/image74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36" Type="http://schemas.openxmlformats.org/officeDocument/2006/relationships/image" Target="../media/image92.png"/><Relationship Id="rId10" Type="http://schemas.openxmlformats.org/officeDocument/2006/relationships/image" Target="../media/image202.png"/><Relationship Id="rId19" Type="http://schemas.openxmlformats.org/officeDocument/2006/relationships/image" Target="../media/image76.png"/><Relationship Id="rId31" Type="http://schemas.openxmlformats.org/officeDocument/2006/relationships/image" Target="../media/image87.png"/><Relationship Id="rId44" Type="http://schemas.openxmlformats.org/officeDocument/2006/relationships/image" Target="../media/image104.png"/><Relationship Id="rId4" Type="http://schemas.openxmlformats.org/officeDocument/2006/relationships/image" Target="../media/image73.tmp"/><Relationship Id="rId9" Type="http://schemas.openxmlformats.org/officeDocument/2006/relationships/image" Target="../media/image201.png"/><Relationship Id="rId14" Type="http://schemas.openxmlformats.org/officeDocument/2006/relationships/image" Target="../media/image206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30" Type="http://schemas.openxmlformats.org/officeDocument/2006/relationships/image" Target="../media/image86.png"/><Relationship Id="rId35" Type="http://schemas.openxmlformats.org/officeDocument/2006/relationships/image" Target="../media/image91.png"/><Relationship Id="rId43" Type="http://schemas.openxmlformats.org/officeDocument/2006/relationships/image" Target="../media/image103.png"/><Relationship Id="rId8" Type="http://schemas.openxmlformats.org/officeDocument/2006/relationships/image" Target="../media/image200.png"/><Relationship Id="rId3" Type="http://schemas.openxmlformats.org/officeDocument/2006/relationships/image" Target="../media/image72.png"/><Relationship Id="rId12" Type="http://schemas.openxmlformats.org/officeDocument/2006/relationships/image" Target="../media/image204.png"/><Relationship Id="rId17" Type="http://schemas.openxmlformats.org/officeDocument/2006/relationships/image" Target="../media/image75.png"/><Relationship Id="rId25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image" Target="../media/image94.png"/><Relationship Id="rId46" Type="http://schemas.openxmlformats.org/officeDocument/2006/relationships/image" Target="../media/image10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70.tm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9672" y="171552"/>
            <a:ext cx="77793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Helvetica" panose="020B0604020202030204" pitchFamily="34" charset="0"/>
              </a:rPr>
              <a:t>Method 1: Lagrange Equations</a:t>
            </a:r>
            <a:endParaRPr lang="en-US" dirty="0"/>
          </a:p>
        </p:txBody>
      </p:sp>
      <p:pic>
        <p:nvPicPr>
          <p:cNvPr id="11" name="Picture 10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09"/>
          <a:stretch/>
        </p:blipFill>
        <p:spPr>
          <a:xfrm>
            <a:off x="5260515" y="4628484"/>
            <a:ext cx="2048161" cy="531340"/>
          </a:xfrm>
          <a:prstGeom prst="rect">
            <a:avLst/>
          </a:prstGeom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486" y="3749113"/>
            <a:ext cx="1276063" cy="801629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10066" y="727735"/>
            <a:ext cx="3870661" cy="1147627"/>
            <a:chOff x="726742" y="3138272"/>
            <a:chExt cx="3870661" cy="1147627"/>
          </a:xfrm>
        </p:grpSpPr>
        <p:pic>
          <p:nvPicPr>
            <p:cNvPr id="18" name="Picture 17" descr="Screen Clippi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42" y="3163547"/>
              <a:ext cx="3311858" cy="1122352"/>
            </a:xfrm>
            <a:prstGeom prst="rect">
              <a:avLst/>
            </a:prstGeom>
          </p:spPr>
        </p:pic>
        <p:grpSp>
          <p:nvGrpSpPr>
            <p:cNvPr id="19" name="Group 18"/>
            <p:cNvGrpSpPr/>
            <p:nvPr/>
          </p:nvGrpSpPr>
          <p:grpSpPr>
            <a:xfrm>
              <a:off x="3308351" y="3138272"/>
              <a:ext cx="1289052" cy="1047527"/>
              <a:chOff x="2536528" y="4006443"/>
              <a:chExt cx="1289052" cy="1047527"/>
            </a:xfrm>
          </p:grpSpPr>
          <p:pic>
            <p:nvPicPr>
              <p:cNvPr id="20" name="Picture 19" descr="Screen Clipping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840"/>
              <a:stretch/>
            </p:blipFill>
            <p:spPr>
              <a:xfrm>
                <a:off x="2536528" y="4006443"/>
                <a:ext cx="1289052" cy="1047527"/>
              </a:xfrm>
              <a:prstGeom prst="rect">
                <a:avLst/>
              </a:prstGeom>
            </p:spPr>
          </p:pic>
          <p:pic>
            <p:nvPicPr>
              <p:cNvPr id="21" name="Picture 20" descr="Screen Clipping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337" t="68309" r="61782" b="-2434"/>
              <a:stretch/>
            </p:blipFill>
            <p:spPr>
              <a:xfrm>
                <a:off x="3520780" y="4277119"/>
                <a:ext cx="304800" cy="572141"/>
              </a:xfrm>
              <a:prstGeom prst="rect">
                <a:avLst/>
              </a:prstGeom>
            </p:spPr>
          </p:pic>
        </p:grpSp>
      </p:grpSp>
      <p:grpSp>
        <p:nvGrpSpPr>
          <p:cNvPr id="30" name="Group 29"/>
          <p:cNvGrpSpPr/>
          <p:nvPr/>
        </p:nvGrpSpPr>
        <p:grpSpPr>
          <a:xfrm>
            <a:off x="431855" y="1729554"/>
            <a:ext cx="3382976" cy="978035"/>
            <a:chOff x="3219624" y="4411628"/>
            <a:chExt cx="3382976" cy="978035"/>
          </a:xfrm>
        </p:grpSpPr>
        <p:pic>
          <p:nvPicPr>
            <p:cNvPr id="28" name="Picture 27" descr="Screen Clippi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1601" y="4524900"/>
              <a:ext cx="1420999" cy="751490"/>
            </a:xfrm>
            <a:prstGeom prst="rect">
              <a:avLst/>
            </a:prstGeom>
          </p:spPr>
        </p:pic>
        <p:pic>
          <p:nvPicPr>
            <p:cNvPr id="29" name="Picture 28" descr="Screen Clipping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28" r="31840"/>
            <a:stretch/>
          </p:blipFill>
          <p:spPr>
            <a:xfrm>
              <a:off x="3219624" y="4411628"/>
              <a:ext cx="1961977" cy="978035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229672" y="2610500"/>
            <a:ext cx="5030843" cy="978035"/>
            <a:chOff x="643526" y="4356467"/>
            <a:chExt cx="5030843" cy="978035"/>
          </a:xfrm>
        </p:grpSpPr>
        <p:pic>
          <p:nvPicPr>
            <p:cNvPr id="31" name="Picture 30" descr="Screen Clippi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526" y="4356467"/>
              <a:ext cx="3132547" cy="978035"/>
            </a:xfrm>
            <a:prstGeom prst="rect">
              <a:avLst/>
            </a:prstGeom>
          </p:spPr>
        </p:pic>
        <p:pic>
          <p:nvPicPr>
            <p:cNvPr id="7" name="Picture 6" descr="Screen Clippi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3002" y="4471959"/>
              <a:ext cx="2891367" cy="747052"/>
            </a:xfrm>
            <a:prstGeom prst="rect">
              <a:avLst/>
            </a:prstGeom>
          </p:spPr>
        </p:pic>
      </p:grpSp>
      <p:pic>
        <p:nvPicPr>
          <p:cNvPr id="25" name="Picture 24" descr="Screen Clipping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49"/>
          <a:stretch/>
        </p:blipFill>
        <p:spPr>
          <a:xfrm>
            <a:off x="334662" y="4009724"/>
            <a:ext cx="3890974" cy="24025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4662" y="3473653"/>
            <a:ext cx="46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dirty="0" smtClean="0"/>
              <a:t>bout the principal axis.</a:t>
            </a:r>
            <a:endParaRPr lang="en-US" dirty="0"/>
          </a:p>
        </p:txBody>
      </p:sp>
      <p:pic>
        <p:nvPicPr>
          <p:cNvPr id="32" name="Picture 31" descr="Screen Clipping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" t="31271" r="-356" b="376"/>
          <a:stretch/>
        </p:blipFill>
        <p:spPr>
          <a:xfrm>
            <a:off x="5412542" y="245901"/>
            <a:ext cx="3890974" cy="330086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84061" y="3826761"/>
            <a:ext cx="463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Rayleigh Dissipation </a:t>
            </a:r>
            <a:r>
              <a:rPr lang="en-US" dirty="0" smtClean="0"/>
              <a:t>Function for dissipative forces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984061" y="4753089"/>
            <a:ext cx="463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Generalized non-conservative active forces</a:t>
            </a:r>
            <a:endParaRPr lang="en-US" dirty="0"/>
          </a:p>
        </p:txBody>
      </p:sp>
      <p:pic>
        <p:nvPicPr>
          <p:cNvPr id="35" name="Picture 34" descr="Screen Clippi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486" y="5374049"/>
            <a:ext cx="1495634" cy="79068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984061" y="5554719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</a:rPr>
              <a:t>Projections vectors of the Jacobian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71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4073" y="293178"/>
            <a:ext cx="77793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Helvetica" panose="020B0604020202030204" pitchFamily="34" charset="0"/>
              </a:rPr>
              <a:t>Method 2: Iterative Newton-Euler dynamic formulation</a:t>
            </a:r>
            <a:endParaRPr lang="en-US" dirty="0"/>
          </a:p>
        </p:txBody>
      </p:sp>
      <p:pic>
        <p:nvPicPr>
          <p:cNvPr id="12" name="Picture 11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05"/>
          <a:stretch/>
        </p:blipFill>
        <p:spPr>
          <a:xfrm>
            <a:off x="7853517" y="3078017"/>
            <a:ext cx="4309454" cy="3207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49379" y="804525"/>
                <a:ext cx="10303854" cy="59962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/>
                <a:r>
                  <a:rPr lang="en-US" u="sng" dirty="0" smtClean="0"/>
                  <a:t>Outward iterations: </a:t>
                </a:r>
                <a:r>
                  <a:rPr lang="en-US" u="sng" dirty="0" err="1" smtClean="0"/>
                  <a:t>i</a:t>
                </a:r>
                <a:r>
                  <a:rPr lang="en-US" u="sng" dirty="0" smtClean="0"/>
                  <a:t> from 0  to n -1 (n is the number of joints)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fr-FR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/>
                  <a:t> </a:t>
                </a:r>
                <a:endParaRPr lang="en-US" cap="all" dirty="0" smtClean="0"/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fr-FR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fr-FR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fr-FR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</m:acc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  <m:e>
                                    <m:r>
                                      <a:rPr lang="en-US" b="1" i="1" cap="all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sPre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</m:sPre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Pre>
                                      <m:sPre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  <m:e>
                                        <m:r>
                                          <a:rPr lang="en-US" b="1" i="1" cap="all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</m:sPre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d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acc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sPre>
                          </m:e>
                          <m:sub>
                            <m:sSub>
                              <m:sSubPr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sPre>
                              </m:e>
                              <m:sub>
                                <m:sSub>
                                  <m:sSubPr>
                                    <m:ctrlP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i="1" cap="all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b="1" i="1" cap="all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/>
                <a:endParaRPr lang="en-US" cap="all" dirty="0" smtClean="0"/>
              </a:p>
              <a:p>
                <a:pPr hangingPunct="0"/>
                <a:r>
                  <a:rPr lang="en-US" dirty="0"/>
                  <a:t>w</a:t>
                </a:r>
                <a:r>
                  <a:rPr lang="en-US" dirty="0" smtClean="0"/>
                  <a:t>ith,</a:t>
                </a:r>
                <a14:m>
                  <m:oMath xmlns:m="http://schemas.openxmlformats.org/officeDocument/2006/math"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cap="all" dirty="0"/>
                  <a:t>  </a:t>
                </a:r>
                <a:r>
                  <a:rPr lang="en-US" dirty="0" smtClean="0"/>
                  <a:t>and</a:t>
                </a:r>
                <a:r>
                  <a:rPr lang="en-US" cap="all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 smtClean="0"/>
                  <a:t>= 0 </a:t>
                </a:r>
                <a:r>
                  <a:rPr lang="en-US" dirty="0" smtClean="0"/>
                  <a:t> for prismatic joint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/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cap="all" dirty="0"/>
                  <a:t> </a:t>
                </a:r>
                <a:r>
                  <a:rPr lang="en-US" cap="all" dirty="0" smtClean="0"/>
                  <a:t>=0 </a:t>
                </a:r>
                <a:r>
                  <a:rPr lang="en-US" dirty="0" smtClean="0"/>
                  <a:t> </a:t>
                </a:r>
                <a:r>
                  <a:rPr lang="en-US" dirty="0"/>
                  <a:t>for revolute </a:t>
                </a:r>
                <a:r>
                  <a:rPr lang="en-US" dirty="0" smtClean="0"/>
                  <a:t>joint</a:t>
                </a:r>
              </a:p>
              <a:p>
                <a:pPr hangingPunct="0"/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cap="all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 smtClean="0"/>
                  <a:t> is the fictitious upward acceleration to include the effect of gravity.</a:t>
                </a:r>
              </a:p>
              <a:p>
                <a:pPr hangingPunct="0"/>
                <a:endParaRPr lang="en-US" dirty="0"/>
              </a:p>
              <a:p>
                <a:pPr hangingPunct="0"/>
                <a:r>
                  <a:rPr lang="en-US" u="sng" dirty="0" smtClean="0"/>
                  <a:t>Inward </a:t>
                </a:r>
                <a:r>
                  <a:rPr lang="en-US" u="sng" dirty="0"/>
                  <a:t>iterations: </a:t>
                </a:r>
                <a:r>
                  <a:rPr lang="en-US" u="sng" dirty="0" err="1" smtClean="0"/>
                  <a:t>i</a:t>
                </a:r>
                <a:r>
                  <a:rPr lang="en-US" u="sng" dirty="0" smtClean="0"/>
                  <a:t> from n to 1</a:t>
                </a:r>
                <a:r>
                  <a:rPr lang="en-US" u="sng" dirty="0"/>
                  <a:t>(n is the number of joints)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fr-FR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fr-FR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fr-FR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cap="all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for revolute joint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  <m:e>
                                <m:r>
                                  <a:rPr lang="en-US" b="1" i="1" cap="all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for </a:t>
                </a:r>
                <a:r>
                  <a:rPr lang="en-US" dirty="0" smtClean="0"/>
                  <a:t>prismatic </a:t>
                </a:r>
                <a:r>
                  <a:rPr lang="en-US" dirty="0"/>
                  <a:t>joint 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  <m:e>
                            <m:r>
                              <a:rPr lang="en-US" b="1" i="1" cap="all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when there is no external loads on the end-effector.</a:t>
                </a:r>
                <a:endParaRPr lang="en-US" dirty="0"/>
              </a:p>
              <a:p>
                <a:pPr hangingPunct="0"/>
                <a:endParaRPr lang="en-US" u="sng" dirty="0"/>
              </a:p>
              <a:p>
                <a:pPr hangingPunct="0"/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79" y="804525"/>
                <a:ext cx="10303854" cy="5996257"/>
              </a:xfrm>
              <a:prstGeom prst="rect">
                <a:avLst/>
              </a:prstGeom>
              <a:blipFill>
                <a:blip r:embed="rId3"/>
                <a:stretch>
                  <a:fillRect l="-533" t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9379" y="4588819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6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8089" y="422610"/>
            <a:ext cx="77793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Helvetica" panose="020B0604020202030204" pitchFamily="34" charset="0"/>
              </a:rPr>
              <a:t>Problem 1:</a:t>
            </a:r>
            <a:r>
              <a:rPr lang="en-US" dirty="0" smtClean="0">
                <a:latin typeface="Helvetica" panose="020B0604020202030204" pitchFamily="34" charset="0"/>
              </a:rPr>
              <a:t> Using the Lagrange equation method find the equations of motion of the RR serial manipulator shown in the figure. (</a:t>
            </a:r>
            <a:r>
              <a:rPr lang="en-US" dirty="0" err="1" smtClean="0">
                <a:latin typeface="Helvetica" panose="020B0604020202030204" pitchFamily="34" charset="0"/>
              </a:rPr>
              <a:t>xy</a:t>
            </a:r>
            <a:r>
              <a:rPr lang="en-US" dirty="0" smtClean="0">
                <a:latin typeface="Helvetica" panose="020B0604020202030204" pitchFamily="34" charset="0"/>
              </a:rPr>
              <a:t>) is a vertical plane. Consider the links to be rigid rods. </a:t>
            </a:r>
          </a:p>
        </p:txBody>
      </p:sp>
      <p:pic>
        <p:nvPicPr>
          <p:cNvPr id="19" name="Picture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3637"/>
            <a:ext cx="3992880" cy="29146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66420" y="1462462"/>
            <a:ext cx="25648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dirty="0">
                <a:latin typeface="Helvetica" panose="020B0604020202030204" pitchFamily="34" charset="0"/>
              </a:rPr>
              <a:t>L1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blipFill>
                <a:blip r:embed="rId3"/>
                <a:stretch>
                  <a:fillRect l="-19565" r="-869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blipFill>
                <a:blip r:embed="rId4"/>
                <a:stretch>
                  <a:fillRect l="-22222" r="-66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 descr="Screen Clippi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r="88185" b="61490"/>
          <a:stretch/>
        </p:blipFill>
        <p:spPr>
          <a:xfrm>
            <a:off x="8124922" y="270184"/>
            <a:ext cx="485678" cy="101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5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4</a:t>
            </a:fld>
            <a:endParaRPr lang="en-US"/>
          </a:p>
        </p:txBody>
      </p:sp>
      <p:pic>
        <p:nvPicPr>
          <p:cNvPr id="19" name="Picture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3637"/>
            <a:ext cx="3992880" cy="29146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66420" y="1462462"/>
            <a:ext cx="25648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dirty="0">
                <a:latin typeface="Helvetica" panose="020B0604020202030204" pitchFamily="34" charset="0"/>
              </a:rPr>
              <a:t>L1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blipFill>
                <a:blip r:embed="rId3"/>
                <a:stretch>
                  <a:fillRect l="-19565" r="-869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blipFill>
                <a:blip r:embed="rId4"/>
                <a:stretch>
                  <a:fillRect l="-22222" r="-66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7947405" y="-28136"/>
            <a:ext cx="3376077" cy="2795349"/>
            <a:chOff x="640149" y="1224771"/>
            <a:chExt cx="3376077" cy="2795349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1785257" y="3222174"/>
              <a:ext cx="1074057" cy="79794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 flipV="1">
              <a:off x="841832" y="2860270"/>
              <a:ext cx="921657" cy="11525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 rot="19076946">
              <a:off x="1917613" y="1887594"/>
              <a:ext cx="2017482" cy="1159850"/>
              <a:chOff x="2288543" y="1789286"/>
              <a:chExt cx="2017482" cy="1159850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 flipV="1">
                <a:off x="3231968" y="2151190"/>
                <a:ext cx="1074057" cy="7979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flipH="1" flipV="1">
                <a:off x="2288543" y="1789286"/>
                <a:ext cx="921657" cy="115259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-101900" y="2162197"/>
                <a:ext cx="7093132" cy="1130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Pre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900" y="2162197"/>
                <a:ext cx="7093132" cy="11308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387520" y="750882"/>
            <a:ext cx="5362124" cy="1209020"/>
            <a:chOff x="5472338" y="1690688"/>
            <a:chExt cx="5362124" cy="1209020"/>
          </a:xfrm>
        </p:grpSpPr>
        <p:pic>
          <p:nvPicPr>
            <p:cNvPr id="28" name="Picture 27" descr="Screen Clipping"/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828"/>
            <a:stretch/>
          </p:blipFill>
          <p:spPr>
            <a:xfrm>
              <a:off x="5472338" y="1690688"/>
              <a:ext cx="5362124" cy="115512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6180975" y="2285936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975" y="2285936"/>
                  <a:ext cx="61064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6180975" y="2502416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975" y="2502416"/>
                  <a:ext cx="61064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9720943" y="2285936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943" y="2285936"/>
                  <a:ext cx="610649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9720943" y="2525510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0943" y="2525510"/>
                  <a:ext cx="61064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7337136" y="2304781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7136" y="2304781"/>
                  <a:ext cx="61064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7372878" y="2530376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2878" y="2530376"/>
                  <a:ext cx="61064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8610600" y="2291219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2291219"/>
                  <a:ext cx="61064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8610600" y="2507699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2507699"/>
                  <a:ext cx="610649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97932" y="3581939"/>
                <a:ext cx="2632772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32" y="3581939"/>
                <a:ext cx="2632772" cy="102047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330704" y="3563825"/>
                <a:ext cx="2736903" cy="10567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704" y="3563825"/>
                <a:ext cx="2736903" cy="10567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067607" y="3510452"/>
                <a:ext cx="5430846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607" y="3510452"/>
                <a:ext cx="5430846" cy="102047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473764" y="4916588"/>
                <a:ext cx="5286896" cy="1049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764" y="4916588"/>
                <a:ext cx="5286896" cy="104900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2502589" y="5132891"/>
                <a:ext cx="28146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589" y="5132891"/>
                <a:ext cx="2814617" cy="369332"/>
              </a:xfrm>
              <a:prstGeom prst="rect">
                <a:avLst/>
              </a:prstGeom>
              <a:blipFill>
                <a:blip r:embed="rId2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2502589" y="5521534"/>
                <a:ext cx="27841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589" y="5521534"/>
                <a:ext cx="2784160" cy="369332"/>
              </a:xfrm>
              <a:prstGeom prst="rect">
                <a:avLst/>
              </a:prstGeom>
              <a:blipFill>
                <a:blip r:embed="rId2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1732450" y="5321813"/>
            <a:ext cx="1062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Since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113309" y="5301587"/>
                <a:ext cx="1062044" cy="450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pos m:val="top"/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1"/>
                            </m:r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309" y="5301587"/>
                <a:ext cx="1062044" cy="450701"/>
              </a:xfrm>
              <a:prstGeom prst="rect">
                <a:avLst/>
              </a:prstGeom>
              <a:blipFill>
                <a:blip r:embed="rId29"/>
                <a:stretch>
                  <a:fillRect t="-37838" r="-30460" b="-5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44" descr="Screen Clipping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r="88185" b="61490"/>
          <a:stretch/>
        </p:blipFill>
        <p:spPr>
          <a:xfrm>
            <a:off x="8124922" y="270184"/>
            <a:ext cx="485678" cy="101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8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5</a:t>
            </a:fld>
            <a:endParaRPr lang="en-US"/>
          </a:p>
        </p:txBody>
      </p:sp>
      <p:pic>
        <p:nvPicPr>
          <p:cNvPr id="19" name="Picture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3637"/>
            <a:ext cx="3992880" cy="29146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66420" y="1462462"/>
            <a:ext cx="25648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dirty="0">
                <a:latin typeface="Helvetica" panose="020B0604020202030204" pitchFamily="34" charset="0"/>
              </a:rPr>
              <a:t>L1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blipFill>
                <a:blip r:embed="rId3"/>
                <a:stretch>
                  <a:fillRect l="-19565" r="-869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blipFill>
                <a:blip r:embed="rId4"/>
                <a:stretch>
                  <a:fillRect l="-22222" r="-66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7947405" y="-28136"/>
            <a:ext cx="3376077" cy="2795349"/>
            <a:chOff x="640149" y="1224771"/>
            <a:chExt cx="3376077" cy="2795349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1785257" y="3222174"/>
              <a:ext cx="1074057" cy="79794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 flipV="1">
              <a:off x="841832" y="2860270"/>
              <a:ext cx="921657" cy="11525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 rot="19076946">
              <a:off x="1917613" y="1887594"/>
              <a:ext cx="2017482" cy="1159850"/>
              <a:chOff x="2288543" y="1789286"/>
              <a:chExt cx="2017482" cy="1159850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 flipV="1">
                <a:off x="3231968" y="2151190"/>
                <a:ext cx="1074057" cy="7979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flipH="1" flipV="1">
                <a:off x="2288543" y="1789286"/>
                <a:ext cx="921657" cy="115259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5" name="Picture 44" descr="Screen Clipping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r="88185" b="61490"/>
          <a:stretch/>
        </p:blipFill>
        <p:spPr>
          <a:xfrm>
            <a:off x="8124922" y="270184"/>
            <a:ext cx="485678" cy="1014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1612180" y="219068"/>
                <a:ext cx="1969220" cy="8288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180" y="219068"/>
                <a:ext cx="1969220" cy="82881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476693" y="2367187"/>
                <a:ext cx="6408258" cy="1112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93" y="2367187"/>
                <a:ext cx="6408258" cy="11128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142029" y="204699"/>
                <a:ext cx="1969220" cy="8288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29" y="204699"/>
                <a:ext cx="1969220" cy="82881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76693" y="1137601"/>
                <a:ext cx="5266193" cy="11255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93" y="1137601"/>
                <a:ext cx="5266193" cy="112550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2267243" y="3692403"/>
                <a:ext cx="2966854" cy="8395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43" y="3692403"/>
                <a:ext cx="2966854" cy="83952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298023" y="3694534"/>
                <a:ext cx="1969220" cy="8395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23" y="3694534"/>
                <a:ext cx="1969220" cy="83952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267243" y="4704073"/>
                <a:ext cx="4183252" cy="9727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43" y="4704073"/>
                <a:ext cx="4183252" cy="97270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-173588" y="4744339"/>
                <a:ext cx="3283377" cy="9727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3588" y="4744339"/>
                <a:ext cx="3283377" cy="97270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210496" y="3357736"/>
                <a:ext cx="1369285" cy="8797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496" y="3357736"/>
                <a:ext cx="1369285" cy="87972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10039081" y="3337339"/>
                <a:ext cx="1879361" cy="8797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sPre>
                        </m:e>
                        <m:sup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081" y="3337339"/>
                <a:ext cx="1879361" cy="87972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6934200" y="4254386"/>
                <a:ext cx="5212080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latin typeface="Helvetica" panose="020B0604020202030204" pitchFamily="34" charset="0"/>
                  </a:rPr>
                  <a:t>For rigid rods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Helvetica" panose="020B0604020202030204" pitchFamily="34" charset="0"/>
                  </a:rPr>
                  <a:t> on the center of mass.</a:t>
                </a: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254386"/>
                <a:ext cx="5212080" cy="483466"/>
              </a:xfrm>
              <a:prstGeom prst="rect">
                <a:avLst/>
              </a:prstGeom>
              <a:blipFill>
                <a:blip r:embed="rId24"/>
                <a:stretch>
                  <a:fillRect l="-1053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583343" y="4822627"/>
                <a:ext cx="2136545" cy="610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343" y="4822627"/>
                <a:ext cx="2136545" cy="61093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8534095" y="5458825"/>
                <a:ext cx="2136545" cy="610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095" y="5458825"/>
                <a:ext cx="2136545" cy="61093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82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ne and Cosine Addition Formulas (solutions, examples, video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106" y="3142835"/>
            <a:ext cx="3630535" cy="138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6</a:t>
            </a:fld>
            <a:endParaRPr lang="en-US"/>
          </a:p>
        </p:txBody>
      </p:sp>
      <p:pic>
        <p:nvPicPr>
          <p:cNvPr id="19" name="Pictur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3637"/>
            <a:ext cx="3992880" cy="29146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66420" y="1462462"/>
            <a:ext cx="25648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dirty="0">
                <a:latin typeface="Helvetica" panose="020B0604020202030204" pitchFamily="34" charset="0"/>
              </a:rPr>
              <a:t>L1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blipFill>
                <a:blip r:embed="rId4"/>
                <a:stretch>
                  <a:fillRect l="-19565" r="-869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blipFill>
                <a:blip r:embed="rId5"/>
                <a:stretch>
                  <a:fillRect l="-22222" r="-66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7947405" y="-28136"/>
            <a:ext cx="3376077" cy="2795349"/>
            <a:chOff x="640149" y="1224771"/>
            <a:chExt cx="3376077" cy="2795349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1785257" y="3222174"/>
              <a:ext cx="1074057" cy="79794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 flipV="1">
              <a:off x="841832" y="2860270"/>
              <a:ext cx="921657" cy="11525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 rot="19076946">
              <a:off x="1917613" y="1887594"/>
              <a:ext cx="2017482" cy="1159850"/>
              <a:chOff x="2288543" y="1789286"/>
              <a:chExt cx="2017482" cy="1159850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 flipV="1">
                <a:off x="3231968" y="2151190"/>
                <a:ext cx="1074057" cy="7979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flipH="1" flipV="1">
                <a:off x="2288543" y="1789286"/>
                <a:ext cx="921657" cy="115259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5" name="Picture 44" descr="Screen Clipping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r="88185" b="61490"/>
          <a:stretch/>
        </p:blipFill>
        <p:spPr>
          <a:xfrm>
            <a:off x="8124922" y="270184"/>
            <a:ext cx="485678" cy="1014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0982" y="478748"/>
                <a:ext cx="8456289" cy="5022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Pre>
                      <m:sPre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sPre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sPre>
                      <m:sPre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sPre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sPr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Pre>
                      <m:sPre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sPre>
                  </m:oMath>
                </a14:m>
                <a:r>
                  <a:rPr lang="en-US" dirty="0" smtClean="0"/>
                  <a:t>.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sPre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sPr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2" y="478748"/>
                <a:ext cx="8456289" cy="502253"/>
              </a:xfrm>
              <a:prstGeom prst="rect">
                <a:avLst/>
              </a:prstGeom>
              <a:blipFill>
                <a:blip r:embed="rId14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927725" y="1020037"/>
                <a:ext cx="6221750" cy="1027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i="1" dirty="0" smtClean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25" y="1020037"/>
                <a:ext cx="6221750" cy="102758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55909" y="1967360"/>
                <a:ext cx="7171362" cy="10518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 smtClean="0"/>
                  <a:t>.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909" y="1967360"/>
                <a:ext cx="7171362" cy="105189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355909" y="3158086"/>
                <a:ext cx="2766848" cy="5105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909" y="3158086"/>
                <a:ext cx="2766848" cy="51058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-198427" y="3807510"/>
                <a:ext cx="9520238" cy="12333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i="1" dirty="0" smtClean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8427" y="3807510"/>
                <a:ext cx="9520238" cy="123335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-173325" y="5075337"/>
                <a:ext cx="12365325" cy="7147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i="1" dirty="0" smtClean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3325" y="5075337"/>
                <a:ext cx="12365325" cy="71474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61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102411" y="1256392"/>
            <a:ext cx="3105023" cy="920620"/>
            <a:chOff x="726742" y="3138272"/>
            <a:chExt cx="3870661" cy="1147627"/>
          </a:xfrm>
        </p:grpSpPr>
        <p:pic>
          <p:nvPicPr>
            <p:cNvPr id="29" name="Picture 28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42" y="3163547"/>
              <a:ext cx="3311858" cy="1122352"/>
            </a:xfrm>
            <a:prstGeom prst="rect">
              <a:avLst/>
            </a:prstGeom>
          </p:spPr>
        </p:pic>
        <p:grpSp>
          <p:nvGrpSpPr>
            <p:cNvPr id="30" name="Group 29"/>
            <p:cNvGrpSpPr/>
            <p:nvPr/>
          </p:nvGrpSpPr>
          <p:grpSpPr>
            <a:xfrm>
              <a:off x="3308351" y="3138272"/>
              <a:ext cx="1289052" cy="1047527"/>
              <a:chOff x="2536528" y="4006443"/>
              <a:chExt cx="1289052" cy="1047527"/>
            </a:xfrm>
          </p:grpSpPr>
          <p:pic>
            <p:nvPicPr>
              <p:cNvPr id="31" name="Picture 30" descr="Screen Clipping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840"/>
              <a:stretch/>
            </p:blipFill>
            <p:spPr>
              <a:xfrm>
                <a:off x="2536528" y="4006443"/>
                <a:ext cx="1289052" cy="1047527"/>
              </a:xfrm>
              <a:prstGeom prst="rect">
                <a:avLst/>
              </a:prstGeom>
            </p:spPr>
          </p:pic>
          <p:pic>
            <p:nvPicPr>
              <p:cNvPr id="32" name="Picture 31" descr="Screen Clipping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337" t="68309" r="61782" b="-2434"/>
              <a:stretch/>
            </p:blipFill>
            <p:spPr>
              <a:xfrm>
                <a:off x="3520780" y="4277119"/>
                <a:ext cx="304800" cy="572141"/>
              </a:xfrm>
              <a:prstGeom prst="rect">
                <a:avLst/>
              </a:prstGeom>
            </p:spPr>
          </p:pic>
        </p:grp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7</a:t>
            </a:fld>
            <a:endParaRPr lang="en-US"/>
          </a:p>
        </p:txBody>
      </p:sp>
      <p:pic>
        <p:nvPicPr>
          <p:cNvPr id="19" name="Picture 1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3637"/>
            <a:ext cx="3992880" cy="29146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66420" y="1462462"/>
            <a:ext cx="25648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dirty="0">
                <a:latin typeface="Helvetica" panose="020B0604020202030204" pitchFamily="34" charset="0"/>
              </a:rPr>
              <a:t>L1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blipFill>
                <a:blip r:embed="rId6"/>
                <a:stretch>
                  <a:fillRect l="-19565" r="-869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blipFill>
                <a:blip r:embed="rId7"/>
                <a:stretch>
                  <a:fillRect l="-22222" r="-66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7947405" y="-28136"/>
            <a:ext cx="3376077" cy="2795349"/>
            <a:chOff x="640149" y="1224771"/>
            <a:chExt cx="3376077" cy="2795349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1785257" y="3222174"/>
              <a:ext cx="1074057" cy="79794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 flipV="1">
              <a:off x="841832" y="2860270"/>
              <a:ext cx="921657" cy="11525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 rot="19076946">
              <a:off x="1917613" y="1887594"/>
              <a:ext cx="2017482" cy="1159850"/>
              <a:chOff x="2288543" y="1789286"/>
              <a:chExt cx="2017482" cy="1159850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 flipV="1">
                <a:off x="3231968" y="2151190"/>
                <a:ext cx="1074057" cy="7979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flipH="1" flipV="1">
                <a:off x="2288543" y="1789286"/>
                <a:ext cx="921657" cy="115259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5" name="Picture 44" descr="Screen Clipping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r="88185" b="61490"/>
          <a:stretch/>
        </p:blipFill>
        <p:spPr>
          <a:xfrm>
            <a:off x="8124922" y="270184"/>
            <a:ext cx="485678" cy="1014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0982" y="478748"/>
                <a:ext cx="4050596" cy="396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Pre>
                          <m:sPre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sPre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Pre>
                          <m:sPre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sPre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2" y="478748"/>
                <a:ext cx="4050596" cy="396775"/>
              </a:xfrm>
              <a:prstGeom prst="rect">
                <a:avLst/>
              </a:prstGeom>
              <a:blipFill>
                <a:blip r:embed="rId14"/>
                <a:stretch>
                  <a:fillRect t="-615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14642" y="983236"/>
                <a:ext cx="34462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42" y="983236"/>
                <a:ext cx="3446200" cy="369332"/>
              </a:xfrm>
              <a:prstGeom prst="rect">
                <a:avLst/>
              </a:prstGeom>
              <a:blipFill>
                <a:blip r:embed="rId15"/>
                <a:stretch>
                  <a:fillRect t="-8197" r="-53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314642" y="2017178"/>
            <a:ext cx="5440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There is not any dissipative or non-conservative forces,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14642" y="3144551"/>
                <a:ext cx="10832131" cy="13768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42" y="3144551"/>
                <a:ext cx="10832131" cy="13768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02411" y="4662352"/>
                <a:ext cx="11697754" cy="1234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acc>
                                      <m:accPr>
                                        <m:chr m:val="̇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1" y="4662352"/>
                <a:ext cx="11697754" cy="12341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314642" y="2440661"/>
                <a:ext cx="3024802" cy="665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42" y="2440661"/>
                <a:ext cx="3024802" cy="66569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/>
              <p:cNvSpPr/>
              <p:nvPr/>
            </p:nvSpPr>
            <p:spPr>
              <a:xfrm>
                <a:off x="3265910" y="2584807"/>
                <a:ext cx="53740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are the torques on the joints motors. </a:t>
                </a:r>
                <a:endParaRPr lang="en-US" dirty="0"/>
              </a:p>
            </p:txBody>
          </p:sp>
        </mc:Choice>
        <mc:Fallback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910" y="2584807"/>
                <a:ext cx="5374035" cy="369332"/>
              </a:xfrm>
              <a:prstGeom prst="rect">
                <a:avLst/>
              </a:prstGeom>
              <a:blipFill>
                <a:blip r:embed="rId19"/>
                <a:stretch>
                  <a:fillRect l="-102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16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8</a:t>
            </a:fld>
            <a:endParaRPr lang="en-US"/>
          </a:p>
        </p:txBody>
      </p:sp>
      <p:pic>
        <p:nvPicPr>
          <p:cNvPr id="19" name="Picture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3637"/>
            <a:ext cx="3992880" cy="29146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66420" y="1462462"/>
            <a:ext cx="25648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dirty="0">
                <a:latin typeface="Helvetica" panose="020B0604020202030204" pitchFamily="34" charset="0"/>
              </a:rPr>
              <a:t>L1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800" y="1007266"/>
                <a:ext cx="282770" cy="276999"/>
              </a:xfrm>
              <a:prstGeom prst="rect">
                <a:avLst/>
              </a:prstGeom>
              <a:blipFill>
                <a:blip r:embed="rId3"/>
                <a:stretch>
                  <a:fillRect l="-19565" r="-869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7212" y="1908785"/>
                <a:ext cx="277448" cy="276999"/>
              </a:xfrm>
              <a:prstGeom prst="rect">
                <a:avLst/>
              </a:prstGeom>
              <a:blipFill>
                <a:blip r:embed="rId4"/>
                <a:stretch>
                  <a:fillRect l="-22222" r="-66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7947405" y="-28136"/>
            <a:ext cx="3376077" cy="2795349"/>
            <a:chOff x="640149" y="1224771"/>
            <a:chExt cx="3376077" cy="2795349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1785257" y="3222174"/>
              <a:ext cx="1074057" cy="79794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 flipV="1">
              <a:off x="841832" y="2860270"/>
              <a:ext cx="921657" cy="11525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 rot="19076946">
              <a:off x="1917613" y="1887594"/>
              <a:ext cx="2017482" cy="1159850"/>
              <a:chOff x="2288543" y="1789286"/>
              <a:chExt cx="2017482" cy="1159850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 flipV="1">
                <a:off x="3231968" y="2151190"/>
                <a:ext cx="1074057" cy="7979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flipH="1" flipV="1">
                <a:off x="2288543" y="1789286"/>
                <a:ext cx="921657" cy="115259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983" y="3186534"/>
                  <a:ext cx="61064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5577" y="1224771"/>
                  <a:ext cx="61064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4920" y="2223885"/>
                  <a:ext cx="610649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49" y="2433490"/>
                  <a:ext cx="610649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5" name="Picture 44" descr="Screen Clipping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r="88185" b="61490"/>
          <a:stretch/>
        </p:blipFill>
        <p:spPr>
          <a:xfrm>
            <a:off x="8124922" y="270184"/>
            <a:ext cx="485678" cy="10140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56205" y="480070"/>
                <a:ext cx="4047583" cy="8420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05" y="480070"/>
                <a:ext cx="4047583" cy="84202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356204" y="1600961"/>
                <a:ext cx="4108752" cy="665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dirty="0"/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dirty="0"/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04" y="1600961"/>
                <a:ext cx="4108752" cy="66569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0" y="3336396"/>
                <a:ext cx="12192000" cy="10200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3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  <m:r>
                                  <a:rPr lang="en-US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3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300" dirty="0"/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acc>
                                      <m:accPr>
                                        <m:chr m:val="̇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a:rPr lang="en-US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a:rPr lang="en-US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300" dirty="0"/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36396"/>
                <a:ext cx="12192000" cy="10200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356204" y="2525713"/>
                <a:ext cx="3024802" cy="665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04" y="2525713"/>
                <a:ext cx="3024802" cy="66569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/>
              <p:cNvSpPr/>
              <p:nvPr/>
            </p:nvSpPr>
            <p:spPr>
              <a:xfrm>
                <a:off x="0" y="4681327"/>
                <a:ext cx="12192000" cy="10200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3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  <m:r>
                                  <a:rPr lang="en-US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3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300" dirty="0"/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3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sSup>
                                  <m:sSup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p>
                                <m:r>
                                  <a:rPr lang="en-US" sz="13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  <m:r>
                                  <a:rPr lang="en-US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3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3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sz="13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3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sz="13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3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13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300" dirty="0"/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3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81327"/>
                <a:ext cx="12192000" cy="102002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18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700755" y="3139236"/>
            <a:ext cx="4198875" cy="3086423"/>
            <a:chOff x="7947405" y="-28136"/>
            <a:chExt cx="4198875" cy="3086423"/>
          </a:xfrm>
        </p:grpSpPr>
        <p:pic>
          <p:nvPicPr>
            <p:cNvPr id="19" name="Picture 18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3400" y="143637"/>
              <a:ext cx="3992880" cy="291465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9266420" y="1462462"/>
              <a:ext cx="25648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r>
                <a:rPr lang="en-US" dirty="0">
                  <a:latin typeface="Helvetica" panose="020B0604020202030204" pitchFamily="34" charset="0"/>
                </a:rPr>
                <a:t>L1</a:t>
              </a:r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 19"/>
                <p:cNvSpPr/>
                <p:nvPr/>
              </p:nvSpPr>
              <p:spPr>
                <a:xfrm>
                  <a:off x="11353800" y="1007266"/>
                  <a:ext cx="282770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3800" y="1007266"/>
                  <a:ext cx="28277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9565" r="-1087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Rectangle 20"/>
                <p:cNvSpPr/>
                <p:nvPr/>
              </p:nvSpPr>
              <p:spPr>
                <a:xfrm>
                  <a:off x="9117212" y="1908785"/>
                  <a:ext cx="277448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7212" y="1908785"/>
                  <a:ext cx="27744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1739" r="-65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/>
            <p:cNvGrpSpPr/>
            <p:nvPr/>
          </p:nvGrpSpPr>
          <p:grpSpPr>
            <a:xfrm>
              <a:off x="7947405" y="-28136"/>
              <a:ext cx="3376077" cy="2795349"/>
              <a:chOff x="640149" y="1224771"/>
              <a:chExt cx="3376077" cy="2795349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V="1">
                <a:off x="1785257" y="3222174"/>
                <a:ext cx="1074057" cy="79794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flipH="1" flipV="1">
                <a:off x="841832" y="2860270"/>
                <a:ext cx="921657" cy="115259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/>
              <p:cNvGrpSpPr/>
              <p:nvPr/>
            </p:nvGrpSpPr>
            <p:grpSpPr>
              <a:xfrm rot="19076946">
                <a:off x="1917613" y="1887594"/>
                <a:ext cx="2017482" cy="1159850"/>
                <a:chOff x="2288543" y="1789286"/>
                <a:chExt cx="2017482" cy="1159850"/>
              </a:xfrm>
            </p:grpSpPr>
            <p:cxnSp>
              <p:nvCxnSpPr>
                <p:cNvPr id="22" name="Straight Arrow Connector 21"/>
                <p:cNvCxnSpPr/>
                <p:nvPr/>
              </p:nvCxnSpPr>
              <p:spPr>
                <a:xfrm flipV="1">
                  <a:off x="3231968" y="2151190"/>
                  <a:ext cx="1074057" cy="797946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/>
                <p:cNvCxnSpPr/>
                <p:nvPr/>
              </p:nvCxnSpPr>
              <p:spPr>
                <a:xfrm flipH="1" flipV="1">
                  <a:off x="2288543" y="1789286"/>
                  <a:ext cx="921657" cy="1152596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2801983" y="3186534"/>
                    <a:ext cx="6106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1983" y="3186534"/>
                    <a:ext cx="610649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3405577" y="1224771"/>
                    <a:ext cx="6106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5577" y="1224771"/>
                    <a:ext cx="610649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1594920" y="2223885"/>
                    <a:ext cx="6106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94920" y="2223885"/>
                    <a:ext cx="610649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49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640149" y="2433490"/>
                    <a:ext cx="6106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149" y="2433490"/>
                    <a:ext cx="610649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45" name="Picture 44" descr="Screen Clipping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7" r="88185" b="61490"/>
            <a:stretch/>
          </p:blipFill>
          <p:spPr>
            <a:xfrm>
              <a:off x="8124922" y="270184"/>
              <a:ext cx="485678" cy="101408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257954" y="339489"/>
                <a:ext cx="3496022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54" y="339489"/>
                <a:ext cx="3496022" cy="404983"/>
              </a:xfrm>
              <a:prstGeom prst="rect">
                <a:avLst/>
              </a:prstGeom>
              <a:blipFill>
                <a:blip r:embed="rId1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/>
              <p:cNvSpPr/>
              <p:nvPr/>
            </p:nvSpPr>
            <p:spPr>
              <a:xfrm>
                <a:off x="3735215" y="374699"/>
                <a:ext cx="816441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 smtClean="0"/>
                  <a:t> is the mass and </a:t>
                </a:r>
                <a:r>
                  <a:rPr lang="en-US" dirty="0" smtClean="0"/>
                  <a:t>inertia </a:t>
                </a:r>
                <a:r>
                  <a:rPr lang="en-US" dirty="0" smtClean="0"/>
                  <a:t>matrix, C is the Coriolis and centrifugal matrix and N</a:t>
                </a:r>
                <a:br>
                  <a:rPr lang="en-US" dirty="0" smtClean="0"/>
                </a:br>
                <a:r>
                  <a:rPr lang="en-US" dirty="0" smtClean="0"/>
                  <a:t> is the stiffness matrix. </a:t>
                </a:r>
                <a:endParaRPr lang="en-US" dirty="0"/>
              </a:p>
            </p:txBody>
          </p:sp>
        </mc:Choice>
        <mc:Fallback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215" y="374699"/>
                <a:ext cx="8164415" cy="646331"/>
              </a:xfrm>
              <a:prstGeom prst="rect">
                <a:avLst/>
              </a:prstGeom>
              <a:blipFill>
                <a:blip r:embed="rId15"/>
                <a:stretch>
                  <a:fillRect l="-67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-573427" y="1080479"/>
                <a:ext cx="13818372" cy="8773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sSup>
                                      <m:sSup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𝐿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f>
                                      <m:fPr>
                                        <m:ctrlP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acc>
                                      <m:accPr>
                                        <m:chr m:val="̇"/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e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05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05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100" dirty="0"/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1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1100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100" dirty="0"/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3427" y="1080479"/>
                <a:ext cx="13818372" cy="87735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348171" y="2172300"/>
                <a:ext cx="9549922" cy="1036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M=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71" y="2172300"/>
                <a:ext cx="9549922" cy="1036502"/>
              </a:xfrm>
              <a:prstGeom prst="rect">
                <a:avLst/>
              </a:prstGeom>
              <a:blipFill>
                <a:blip r:embed="rId17"/>
                <a:stretch>
                  <a:fillRect l="-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348171" y="3265442"/>
                <a:ext cx="4444422" cy="972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C=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71" y="3265442"/>
                <a:ext cx="4444422" cy="972702"/>
              </a:xfrm>
              <a:prstGeom prst="rect">
                <a:avLst/>
              </a:prstGeom>
              <a:blipFill>
                <a:blip r:embed="rId18"/>
                <a:stretch>
                  <a:fillRect l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348171" y="4456574"/>
                <a:ext cx="3686266" cy="6274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N=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dirty="0"/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dirty="0"/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71" y="4456574"/>
                <a:ext cx="3686266" cy="627416"/>
              </a:xfrm>
              <a:prstGeom prst="rect">
                <a:avLst/>
              </a:prstGeom>
              <a:blipFill>
                <a:blip r:embed="rId19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862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8089" y="422610"/>
            <a:ext cx="77793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Helvetica" panose="020B0604020202030204" pitchFamily="34" charset="0"/>
              </a:rPr>
              <a:t>Problem</a:t>
            </a:r>
            <a:r>
              <a:rPr lang="en-US" b="1" dirty="0" smtClean="0">
                <a:latin typeface="Helvetica" panose="020B0604020202030204" pitchFamily="34" charset="0"/>
              </a:rPr>
              <a:t> 2:</a:t>
            </a:r>
            <a:r>
              <a:rPr lang="en-US" dirty="0" smtClean="0">
                <a:latin typeface="Helvetica" panose="020B0604020202030204" pitchFamily="34" charset="0"/>
              </a:rPr>
              <a:t> </a:t>
            </a:r>
            <a:r>
              <a:rPr lang="en-US" dirty="0">
                <a:latin typeface="Helvetica" panose="020B0604020202030204" pitchFamily="34" charset="0"/>
              </a:rPr>
              <a:t>Using the Iterative Newton-Euler dynamic formulation method find the equations of motion of the </a:t>
            </a:r>
            <a:r>
              <a:rPr lang="en-US" dirty="0" smtClean="0">
                <a:latin typeface="Helvetica" panose="020B0604020202030204" pitchFamily="34" charset="0"/>
              </a:rPr>
              <a:t>RPP </a:t>
            </a:r>
            <a:r>
              <a:rPr lang="en-US" dirty="0">
                <a:latin typeface="Helvetica" panose="020B0604020202030204" pitchFamily="34" charset="0"/>
              </a:rPr>
              <a:t>serial manipulator shown in the figure.</a:t>
            </a:r>
            <a:r>
              <a:rPr lang="en-US" b="1" dirty="0">
                <a:latin typeface="Helvetica" panose="020B0604020202030204" pitchFamily="34" charset="0"/>
              </a:rPr>
              <a:t> </a:t>
            </a:r>
            <a:endParaRPr lang="en-US" b="1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531" y="422611"/>
            <a:ext cx="3494265" cy="278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0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/>
              <p:cNvSpPr/>
              <p:nvPr/>
            </p:nvSpPr>
            <p:spPr>
              <a:xfrm>
                <a:off x="4082545" y="1752169"/>
                <a:ext cx="7077892" cy="1174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Pre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545" y="1752169"/>
                <a:ext cx="7077892" cy="11743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6572773" y="3034625"/>
                <a:ext cx="2116670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773" y="3034625"/>
                <a:ext cx="2116670" cy="10204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4821493" y="223397"/>
            <a:ext cx="5755787" cy="1551625"/>
            <a:chOff x="5458719" y="1690399"/>
            <a:chExt cx="5755787" cy="1551625"/>
          </a:xfrm>
        </p:grpSpPr>
        <p:pic>
          <p:nvPicPr>
            <p:cNvPr id="54" name="Picture 53" descr="Screen Clippi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8719" y="1690399"/>
              <a:ext cx="5755787" cy="153891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363255" y="2363132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255" y="2363132"/>
                  <a:ext cx="61064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6363255" y="2593680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255" y="2593680"/>
                  <a:ext cx="61064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9903223" y="2363132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223" y="2363132"/>
                  <a:ext cx="61064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9903223" y="2602706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223" y="2602706"/>
                  <a:ext cx="61064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7519416" y="2353841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9416" y="2353841"/>
                  <a:ext cx="61064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555158" y="2579436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5158" y="2579436"/>
                  <a:ext cx="61064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8792880" y="2340279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880" y="2340279"/>
                  <a:ext cx="61064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8792880" y="2598963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880" y="2598963"/>
                  <a:ext cx="61064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6374975" y="2872692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−90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4975" y="2872692"/>
                  <a:ext cx="61064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9914943" y="2839514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:r>
                    <a:rPr lang="en-US" dirty="0" smtClean="0">
                      <a:solidFill>
                        <a:srgbClr val="FF0000"/>
                      </a:solidFill>
                    </a:rPr>
                    <a:t>18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4943" y="2839514"/>
                  <a:ext cx="610649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9000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7566878" y="2830312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6878" y="2830312"/>
                  <a:ext cx="61064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8804600" y="2835771"/>
                  <a:ext cx="610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4600" y="2835771"/>
                  <a:ext cx="61064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/>
              <p:cNvSpPr txBox="1"/>
              <p:nvPr/>
            </p:nvSpPr>
            <p:spPr>
              <a:xfrm>
                <a:off x="8922649" y="3066216"/>
                <a:ext cx="2347502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649" y="3066216"/>
                <a:ext cx="2347502" cy="102047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/>
          <p:cNvGrpSpPr/>
          <p:nvPr/>
        </p:nvGrpSpPr>
        <p:grpSpPr>
          <a:xfrm>
            <a:off x="-16148" y="56489"/>
            <a:ext cx="4705131" cy="3836775"/>
            <a:chOff x="500265" y="1090673"/>
            <a:chExt cx="4705131" cy="3836775"/>
          </a:xfrm>
        </p:grpSpPr>
        <p:grpSp>
          <p:nvGrpSpPr>
            <p:cNvPr id="114" name="Group 113"/>
            <p:cNvGrpSpPr/>
            <p:nvPr/>
          </p:nvGrpSpPr>
          <p:grpSpPr>
            <a:xfrm>
              <a:off x="500265" y="1352396"/>
              <a:ext cx="4705131" cy="3575052"/>
              <a:chOff x="721823" y="1704771"/>
              <a:chExt cx="4705131" cy="3575052"/>
            </a:xfrm>
          </p:grpSpPr>
          <p:pic>
            <p:nvPicPr>
              <p:cNvPr id="123" name="Picture 122"/>
              <p:cNvPicPr/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9120" y="1704771"/>
                <a:ext cx="3861194" cy="3077255"/>
              </a:xfrm>
              <a:prstGeom prst="rect">
                <a:avLst/>
              </a:prstGeom>
            </p:spPr>
          </p:pic>
          <p:grpSp>
            <p:nvGrpSpPr>
              <p:cNvPr id="124" name="Group 123"/>
              <p:cNvGrpSpPr/>
              <p:nvPr/>
            </p:nvGrpSpPr>
            <p:grpSpPr>
              <a:xfrm>
                <a:off x="721823" y="2073526"/>
                <a:ext cx="4705131" cy="3206297"/>
                <a:chOff x="727703" y="2050591"/>
                <a:chExt cx="4705131" cy="3206297"/>
              </a:xfrm>
            </p:grpSpPr>
            <p:cxnSp>
              <p:nvCxnSpPr>
                <p:cNvPr id="130" name="Straight Arrow Connector 129"/>
                <p:cNvCxnSpPr/>
                <p:nvPr/>
              </p:nvCxnSpPr>
              <p:spPr>
                <a:xfrm>
                  <a:off x="3122453" y="2715737"/>
                  <a:ext cx="1680285" cy="47183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headEnd type="none" w="lg" len="lg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/>
                <p:cNvCxnSpPr/>
                <p:nvPr/>
              </p:nvCxnSpPr>
              <p:spPr>
                <a:xfrm flipV="1">
                  <a:off x="2233496" y="3523978"/>
                  <a:ext cx="0" cy="770971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headEnd type="oval" w="lg" len="lg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2" name="Group 131"/>
                <p:cNvGrpSpPr/>
                <p:nvPr/>
              </p:nvGrpSpPr>
              <p:grpSpPr>
                <a:xfrm>
                  <a:off x="727703" y="2050591"/>
                  <a:ext cx="4705131" cy="3206297"/>
                  <a:chOff x="727703" y="2050591"/>
                  <a:chExt cx="4705131" cy="3206297"/>
                </a:xfrm>
              </p:grpSpPr>
              <p:cxnSp>
                <p:nvCxnSpPr>
                  <p:cNvPr id="133" name="Straight Arrow Connector 132"/>
                  <p:cNvCxnSpPr/>
                  <p:nvPr/>
                </p:nvCxnSpPr>
                <p:spPr>
                  <a:xfrm flipH="1">
                    <a:off x="1277164" y="4296834"/>
                    <a:ext cx="932636" cy="493498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headEnd type="none" w="lg" len="lg"/>
                    <a:tailEnd type="arrow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Arrow Connector 133"/>
                  <p:cNvCxnSpPr/>
                  <p:nvPr/>
                </p:nvCxnSpPr>
                <p:spPr>
                  <a:xfrm>
                    <a:off x="2207708" y="4294948"/>
                    <a:ext cx="976978" cy="496803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headEnd type="none" w="lg" len="lg"/>
                    <a:tailEnd type="arrow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35" name="TextBox 134"/>
                      <p:cNvSpPr txBox="1"/>
                      <p:nvPr/>
                    </p:nvSpPr>
                    <p:spPr>
                      <a:xfrm>
                        <a:off x="1990650" y="3763974"/>
                        <a:ext cx="148585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35" name="TextBox 13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90650" y="3763974"/>
                        <a:ext cx="1485856" cy="369332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36" name="TextBox 135"/>
                      <p:cNvSpPr txBox="1"/>
                      <p:nvPr/>
                    </p:nvSpPr>
                    <p:spPr>
                      <a:xfrm>
                        <a:off x="727703" y="4887556"/>
                        <a:ext cx="1007789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36" name="TextBox 13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27703" y="4887556"/>
                        <a:ext cx="1007789" cy="369332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37" name="TextBox 136"/>
                      <p:cNvSpPr txBox="1"/>
                      <p:nvPr/>
                    </p:nvSpPr>
                    <p:spPr>
                      <a:xfrm>
                        <a:off x="2482218" y="4720424"/>
                        <a:ext cx="1007789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37" name="TextBox 13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82218" y="4720424"/>
                        <a:ext cx="1007789" cy="369332"/>
                      </a:xfrm>
                      <a:prstGeom prst="rect">
                        <a:avLst/>
                      </a:prstGeom>
                      <a:blipFill>
                        <a:blip r:embed="rId24"/>
                        <a:stretch>
                          <a:fillRect b="-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38" name="Straight Arrow Connector 137"/>
                  <p:cNvCxnSpPr/>
                  <p:nvPr/>
                </p:nvCxnSpPr>
                <p:spPr>
                  <a:xfrm flipV="1">
                    <a:off x="3124546" y="2303440"/>
                    <a:ext cx="976396" cy="385608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headEnd type="oval" w="lg" len="lg"/>
                    <a:tailEnd type="arrow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39" name="TextBox 138"/>
                      <p:cNvSpPr txBox="1"/>
                      <p:nvPr/>
                    </p:nvSpPr>
                    <p:spPr>
                      <a:xfrm>
                        <a:off x="4425045" y="2860952"/>
                        <a:ext cx="1007789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39" name="TextBox 13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425045" y="2860952"/>
                        <a:ext cx="1007789" cy="369332"/>
                      </a:xfrm>
                      <a:prstGeom prst="rect">
                        <a:avLst/>
                      </a:prstGeom>
                      <a:blipFill>
                        <a:blip r:embed="rId2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40" name="TextBox 139"/>
                      <p:cNvSpPr txBox="1"/>
                      <p:nvPr/>
                    </p:nvSpPr>
                    <p:spPr>
                      <a:xfrm>
                        <a:off x="3756581" y="2050591"/>
                        <a:ext cx="1007789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40" name="TextBox 13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756581" y="2050591"/>
                        <a:ext cx="1007789" cy="369332"/>
                      </a:xfrm>
                      <a:prstGeom prst="rect">
                        <a:avLst/>
                      </a:prstGeom>
                      <a:blipFill>
                        <a:blip r:embed="rId2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5" name="TextBox 124"/>
                  <p:cNvSpPr txBox="1"/>
                  <p:nvPr/>
                </p:nvSpPr>
                <p:spPr>
                  <a:xfrm>
                    <a:off x="2751068" y="2758246"/>
                    <a:ext cx="610649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5" name="TextBox 1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068" y="2758246"/>
                    <a:ext cx="610649" cy="338554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6" name="Oval 125"/>
              <p:cNvSpPr/>
              <p:nvPr/>
            </p:nvSpPr>
            <p:spPr>
              <a:xfrm>
                <a:off x="3072049" y="2677900"/>
                <a:ext cx="106757" cy="8254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7" name="TextBox 126"/>
                  <p:cNvSpPr txBox="1"/>
                  <p:nvPr/>
                </p:nvSpPr>
                <p:spPr>
                  <a:xfrm>
                    <a:off x="1501775" y="2644767"/>
                    <a:ext cx="610649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7" name="TextBox 1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1775" y="2644767"/>
                    <a:ext cx="610649" cy="33855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8" name="Oval 127"/>
              <p:cNvSpPr/>
              <p:nvPr/>
            </p:nvSpPr>
            <p:spPr>
              <a:xfrm>
                <a:off x="2131146" y="3193367"/>
                <a:ext cx="106757" cy="8254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9" name="TextBox 128"/>
                  <p:cNvSpPr txBox="1"/>
                  <p:nvPr/>
                </p:nvSpPr>
                <p:spPr>
                  <a:xfrm>
                    <a:off x="1950981" y="4308245"/>
                    <a:ext cx="610649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29" name="TextBox 1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0981" y="4308245"/>
                    <a:ext cx="610649" cy="33855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5" name="Straight Arrow Connector 114"/>
            <p:cNvCxnSpPr/>
            <p:nvPr/>
          </p:nvCxnSpPr>
          <p:spPr>
            <a:xfrm flipH="1">
              <a:off x="1019246" y="2892974"/>
              <a:ext cx="932636" cy="49349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/>
            <p:nvPr/>
          </p:nvCxnSpPr>
          <p:spPr>
            <a:xfrm>
              <a:off x="1949790" y="2891088"/>
              <a:ext cx="976978" cy="496803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Rectangle 116"/>
                <p:cNvSpPr/>
                <p:nvPr/>
              </p:nvSpPr>
              <p:spPr>
                <a:xfrm>
                  <a:off x="2000436" y="1095801"/>
                  <a:ext cx="4514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7" name="Rectangle 1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436" y="1095801"/>
                  <a:ext cx="451469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Straight Arrow Connector 117"/>
            <p:cNvCxnSpPr/>
            <p:nvPr/>
          </p:nvCxnSpPr>
          <p:spPr>
            <a:xfrm flipV="1">
              <a:off x="2000436" y="1333900"/>
              <a:ext cx="0" cy="152581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oval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Rectangle 118"/>
                <p:cNvSpPr/>
                <p:nvPr/>
              </p:nvSpPr>
              <p:spPr>
                <a:xfrm>
                  <a:off x="2917283" y="1090673"/>
                  <a:ext cx="46775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9" name="Rectangle 1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283" y="1090673"/>
                  <a:ext cx="467756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/>
            <p:cNvCxnSpPr/>
            <p:nvPr/>
          </p:nvCxnSpPr>
          <p:spPr>
            <a:xfrm flipV="1">
              <a:off x="2895015" y="1333900"/>
              <a:ext cx="0" cy="1033525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oval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Rectangle 120"/>
                <p:cNvSpPr/>
                <p:nvPr/>
              </p:nvSpPr>
              <p:spPr>
                <a:xfrm>
                  <a:off x="2846638" y="3121961"/>
                  <a:ext cx="46775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1" name="Rectangle 1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6638" y="3121961"/>
                  <a:ext cx="467756" cy="369332"/>
                </a:xfrm>
                <a:prstGeom prst="rect">
                  <a:avLst/>
                </a:prstGeom>
                <a:blipFill>
                  <a:blip r:embed="rId3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Rectangle 121"/>
                <p:cNvSpPr/>
                <p:nvPr/>
              </p:nvSpPr>
              <p:spPr>
                <a:xfrm>
                  <a:off x="686423" y="3264694"/>
                  <a:ext cx="46609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2" name="Rectangle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423" y="3264694"/>
                  <a:ext cx="46609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Rectangle 145"/>
              <p:cNvSpPr/>
              <p:nvPr/>
            </p:nvSpPr>
            <p:spPr>
              <a:xfrm>
                <a:off x="3771698" y="4410471"/>
                <a:ext cx="2869439" cy="8364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sPre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sPre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6" name="Rectangle 1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698" y="4410471"/>
                <a:ext cx="2869439" cy="83644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Rectangle 146"/>
              <p:cNvSpPr/>
              <p:nvPr/>
            </p:nvSpPr>
            <p:spPr>
              <a:xfrm>
                <a:off x="6793067" y="4376431"/>
                <a:ext cx="2393925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Pre>
                            <m:sPre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sPre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7" name="Rectangle 1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067" y="4376431"/>
                <a:ext cx="2393925" cy="824906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Rectangle 147"/>
              <p:cNvSpPr/>
              <p:nvPr/>
            </p:nvSpPr>
            <p:spPr>
              <a:xfrm>
                <a:off x="9240193" y="4420581"/>
                <a:ext cx="2567049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sPre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8" name="Rectangle 1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193" y="4420581"/>
                <a:ext cx="2567049" cy="82490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Group 158"/>
          <p:cNvGrpSpPr/>
          <p:nvPr/>
        </p:nvGrpSpPr>
        <p:grpSpPr>
          <a:xfrm>
            <a:off x="104697" y="3847358"/>
            <a:ext cx="2827274" cy="1609854"/>
            <a:chOff x="1008506" y="4544765"/>
            <a:chExt cx="2827274" cy="160985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1" name="Rectangle 140"/>
                <p:cNvSpPr/>
                <p:nvPr/>
              </p:nvSpPr>
              <p:spPr>
                <a:xfrm>
                  <a:off x="1008506" y="5041814"/>
                  <a:ext cx="2545890" cy="11128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sPr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1" name="Rectangle 1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506" y="5041814"/>
                  <a:ext cx="2545890" cy="1112805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Rectangle 141"/>
            <p:cNvSpPr/>
            <p:nvPr/>
          </p:nvSpPr>
          <p:spPr>
            <a:xfrm>
              <a:off x="1748247" y="5048010"/>
              <a:ext cx="1391912" cy="831087"/>
            </a:xfrm>
            <a:prstGeom prst="rect">
              <a:avLst/>
            </a:prstGeom>
            <a:solidFill>
              <a:srgbClr val="F2F2F2">
                <a:alpha val="43137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Rectangle 142"/>
                <p:cNvSpPr/>
                <p:nvPr/>
              </p:nvSpPr>
              <p:spPr>
                <a:xfrm>
                  <a:off x="1571392" y="4544765"/>
                  <a:ext cx="675578" cy="37420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i="1" cap="all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cap="all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r>
                              <a:rPr lang="en-US" i="1" cap="all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143" name="Rectangle 1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1392" y="4544765"/>
                  <a:ext cx="675578" cy="37420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Straight Connector 143"/>
            <p:cNvCxnSpPr/>
            <p:nvPr/>
          </p:nvCxnSpPr>
          <p:spPr>
            <a:xfrm>
              <a:off x="1893478" y="4822874"/>
              <a:ext cx="256235" cy="2349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Rectangle 148"/>
                <p:cNvSpPr/>
                <p:nvPr/>
              </p:nvSpPr>
              <p:spPr>
                <a:xfrm>
                  <a:off x="3230165" y="4567532"/>
                  <a:ext cx="60561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cap="all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  <m:e>
                                <m:r>
                                  <a:rPr lang="en-US" b="1" i="1" cap="all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149" name="Rectangle 1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0165" y="4567532"/>
                  <a:ext cx="605615" cy="369332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0" name="Straight Connector 149"/>
            <p:cNvCxnSpPr/>
            <p:nvPr/>
          </p:nvCxnSpPr>
          <p:spPr>
            <a:xfrm flipH="1">
              <a:off x="3202371" y="4780619"/>
              <a:ext cx="123933" cy="2430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Rectangle 151"/>
            <p:cNvSpPr/>
            <p:nvPr/>
          </p:nvSpPr>
          <p:spPr>
            <a:xfrm>
              <a:off x="3180772" y="5037865"/>
              <a:ext cx="142750" cy="831087"/>
            </a:xfrm>
            <a:prstGeom prst="rect">
              <a:avLst/>
            </a:prstGeom>
            <a:solidFill>
              <a:srgbClr val="F2F2F2">
                <a:alpha val="43137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Rectangle 152"/>
              <p:cNvSpPr/>
              <p:nvPr/>
            </p:nvSpPr>
            <p:spPr>
              <a:xfrm>
                <a:off x="4082545" y="5415926"/>
                <a:ext cx="2080185" cy="400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cap="all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b="0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  <m:e>
                                  <m:r>
                                    <a:rPr lang="en-US" b="1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sPre>
                            </m:e>
                            <m:sub>
                              <m:r>
                                <a:rPr lang="en-US" i="1" cap="all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cap="all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cap="all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cap="all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US" i="1" cap="all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3" name="Rectangle 1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545" y="5415926"/>
                <a:ext cx="2080185" cy="40068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Rectangle 153"/>
              <p:cNvSpPr/>
              <p:nvPr/>
            </p:nvSpPr>
            <p:spPr>
              <a:xfrm>
                <a:off x="6860897" y="5457212"/>
                <a:ext cx="2197653" cy="400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cap="all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b="0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b="1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sPre>
                            </m:e>
                            <m:sub>
                              <m:r>
                                <a:rPr lang="en-US" b="0" i="1" cap="all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cap="all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cap="all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US" i="1" cap="all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4" name="Rectangle 1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897" y="5457212"/>
                <a:ext cx="2197653" cy="40068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Rectangle 154"/>
              <p:cNvSpPr/>
              <p:nvPr/>
            </p:nvSpPr>
            <p:spPr>
              <a:xfrm>
                <a:off x="9240193" y="5457211"/>
                <a:ext cx="2255361" cy="400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cap="all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b="0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r>
                                    <a:rPr lang="en-US" b="1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sPre>
                            </m:e>
                            <m:sub>
                              <m:r>
                                <a:rPr lang="en-US" b="0" i="1" cap="all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cap="all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cap="all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b="0" i="1" cap="all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US" i="1" cap="all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5" name="Rectangle 1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193" y="5457211"/>
                <a:ext cx="2255361" cy="40068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/>
              <p:cNvSpPr txBox="1"/>
              <p:nvPr/>
            </p:nvSpPr>
            <p:spPr>
              <a:xfrm>
                <a:off x="3835870" y="3058481"/>
                <a:ext cx="2361224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870" y="3058481"/>
                <a:ext cx="2361224" cy="102047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Rectangle 155"/>
              <p:cNvSpPr/>
              <p:nvPr/>
            </p:nvSpPr>
            <p:spPr>
              <a:xfrm>
                <a:off x="4065720" y="5947440"/>
                <a:ext cx="2183868" cy="434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cap="all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b="0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b="1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sPre>
                            </m:e>
                            <m:sub>
                              <m:sSub>
                                <m:sSubPr>
                                  <m:ctrlP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cap="all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cap="all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cap="all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US" i="1" cap="all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6" name="Rectangle 1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20" y="5947440"/>
                <a:ext cx="2183868" cy="434927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Rectangle 156"/>
              <p:cNvSpPr/>
              <p:nvPr/>
            </p:nvSpPr>
            <p:spPr>
              <a:xfrm>
                <a:off x="6896290" y="5931260"/>
                <a:ext cx="2183867" cy="434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cap="all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b="0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r>
                                    <a:rPr lang="en-US" b="1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sPre>
                            </m:e>
                            <m:sub>
                              <m:sSub>
                                <m:sSubPr>
                                  <m:ctrlP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cap="all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cap="all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cap="all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US" i="1" cap="all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7" name="Rectangle 1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290" y="5931260"/>
                <a:ext cx="2183867" cy="434927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Rectangle 157"/>
              <p:cNvSpPr/>
              <p:nvPr/>
            </p:nvSpPr>
            <p:spPr>
              <a:xfrm>
                <a:off x="9240193" y="5962939"/>
                <a:ext cx="2227148" cy="4460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cap="all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b="0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r>
                                    <a:rPr lang="en-US" b="1" i="1" cap="all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sPre>
                            </m:e>
                            <m:sub>
                              <m:sSub>
                                <m:sSubPr>
                                  <m:ctrlP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cap="all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cap="all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cap="all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cap="all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 cap="all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cap="all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 cap="all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  <m:sub>
                          <m:r>
                            <a:rPr lang="en-US" i="1" cap="all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8" name="Rectangle 1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193" y="5962939"/>
                <a:ext cx="2227148" cy="44602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Rectangle 159"/>
              <p:cNvSpPr/>
              <p:nvPr/>
            </p:nvSpPr>
            <p:spPr>
              <a:xfrm>
                <a:off x="253120" y="5545920"/>
                <a:ext cx="2187715" cy="8364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sPre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0" name="Rectangle 1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20" y="5545920"/>
                <a:ext cx="2187715" cy="836447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 75"/>
              <p:cNvSpPr/>
              <p:nvPr/>
            </p:nvSpPr>
            <p:spPr>
              <a:xfrm>
                <a:off x="185344" y="1084020"/>
                <a:ext cx="11821311" cy="58301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sPre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0+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cap="all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 cap="all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 cap="all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</m:acc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  <m:e>
                                    <m:r>
                                      <a:rPr lang="en-US" b="1" i="1" cap="all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sPre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</m:sPre>
                              </m:e>
                              <m:sub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Pre>
                                      <m:sPre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en-US" b="0" i="1" cap="all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p>
                                      <m:e>
                                        <m:r>
                                          <a:rPr lang="en-US" b="1" i="1" cap="all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</m:sPre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d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acc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cap="all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sPre>
                        </m:e>
                        <m:sub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cap="all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i="1" cap="all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i="1" cap="all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 cap="all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cap="all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 cap="all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i="1" cap="all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i="1" cap="all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  <m:sup>
                                  <m:r>
                                    <a:rPr lang="en-US" i="1" cap="all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i="1" cap="all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 cap="all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cap="all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 cap="all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i="1" cap="all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cap="all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 cap="all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i="1" cap="all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i="1" cap="all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 cap="all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3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i="1" cap="all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 cap="all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i="1" cap="all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n-US" i="1" cap="all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 cap="all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i="1" cap="all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cap="all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cap="all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 cap="all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 cap="all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i="1" cap="all" dirty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i="1" cap="all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i="1" cap="all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cap="all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i="1" cap="all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cap="all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 cap="all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 cap="all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 cap="all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cap="all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cap="all" smtClean="0">
                          <a:latin typeface="Cambria Math" panose="02040503050406030204" pitchFamily="18" charset="0"/>
                        </a:rPr>
                        <m:t>0</m:t>
                      </m:r>
                      <m:sSup>
                        <m:sSupPr>
                          <m:ctrlPr>
                            <a:rPr lang="en-US" i="1" cap="all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cap="all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 cap="all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 cap="all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 cap="all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 cap="all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cap="all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cap="all" smtClean="0">
                          <a:latin typeface="Cambria Math" panose="02040503050406030204" pitchFamily="18" charset="0"/>
                        </a:rPr>
                        <m:t>0</m:t>
                      </m:r>
                      <m:sSup>
                        <m:sSupPr>
                          <m:ctrlPr>
                            <a:rPr lang="en-US" i="1" cap="all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cap="all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 cap="all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 cap="all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 cap="all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 cap="all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cap="all" dirty="0" smtClean="0"/>
              </a:p>
              <a:p>
                <a:pPr hangingPunct="0">
                  <a:spcBef>
                    <a:spcPts val="200"/>
                  </a:spcBef>
                </a:pPr>
                <a:r>
                  <a:rPr lang="en-US" cap="all" dirty="0"/>
                  <a:t> </a:t>
                </a:r>
                <a:r>
                  <a:rPr lang="en-US" cap="all" dirty="0" smtClean="0"/>
                  <a:t>      </a:t>
                </a:r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sPre>
                          </m:e>
                          <m:sub>
                            <m:sSub>
                              <m:sSubPr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sPre>
                              </m:e>
                              <m:sub>
                                <m:sSub>
                                  <m:sSubPr>
                                    <m:ctrlP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:r>
                  <a:rPr lang="en-US" cap="all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1" i="1" cap="all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cap="all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0" cap="all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cap="all" dirty="0" smtClean="0"/>
              </a:p>
              <a:p>
                <a:pPr hangingPunct="0">
                  <a:spcBef>
                    <a:spcPts val="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i="1" cap="all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sPre>
                        </m:e>
                        <m:sub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cap="all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i="1" cap="all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en-US" b="1" i="1" cap="all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</m:sPre>
                            </m:e>
                            <m:sub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acc>
                                <m:accPr>
                                  <m:chr m:val="̇"/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cap="all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acc>
                            </m:e>
                          </m:sPre>
                        </m:e>
                        <m:sub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cap="all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b="1" i="1" cap="all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</m:sPre>
                        </m:e>
                        <m:sub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cap="all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Pre>
                                <m:sPre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PrePr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en-US" b="1" i="1" cap="all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</m:sPre>
                            </m:e>
                            <m:sub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b="1" i="1" cap="all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</m:sPre>
                        </m:e>
                        <m:sub>
                          <m:r>
                            <a:rPr lang="en-US" i="1" cap="all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cap="all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cap="all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b="0" i="1" cap="all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Pre>
                                              <m:sPre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PrePr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  <m:sup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𝐶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sup>
                                              <m:e>
                                                <m:r>
                                                  <a:rPr lang="en-US" b="1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𝑰</m:t>
                                                </m:r>
                                              </m:e>
                                            </m:sPre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Pre>
                                              <m:sPre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PrePr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  <m:sup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𝐶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sup>
                                              <m:e>
                                                <m:r>
                                                  <a:rPr lang="en-US" b="1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𝑰</m:t>
                                                </m:r>
                                              </m:e>
                                            </m:sPre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𝑦𝑦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Pre>
                                              <m:sPre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PrePr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  <m:sup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𝐶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sup>
                                              <m:e>
                                                <m:r>
                                                  <a:rPr lang="en-US" b="1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𝑰</m:t>
                                                </m:r>
                                              </m:e>
                                            </m:sPre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𝑧𝑧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0" cap="all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 cap="all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Pre>
                                              <m:sPre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PrePr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  <m:sup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𝐶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sup>
                                              <m:e>
                                                <m:r>
                                                  <a:rPr lang="en-US" b="1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𝑰</m:t>
                                                </m:r>
                                              </m:e>
                                            </m:sPre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Pre>
                                              <m:sPre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PrePr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  <m:sup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𝐶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sup>
                                              <m:e>
                                                <m:r>
                                                  <a:rPr lang="en-US" b="1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𝑰</m:t>
                                                </m:r>
                                              </m:e>
                                            </m:sPre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𝑦𝑦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Pre>
                                              <m:sPre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PrePr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b>
                                              <m:sup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𝐶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sup>
                                              <m:e>
                                                <m:r>
                                                  <a:rPr lang="en-US" b="1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𝑰</m:t>
                                                </m:r>
                                              </m:e>
                                            </m:sPre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𝑧𝑧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i="1" cap="all" dirty="0" smtClean="0">
                  <a:latin typeface="Cambria Math" panose="02040503050406030204" pitchFamily="18" charset="0"/>
                </a:endParaRP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           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/>
                <a:r>
                  <a:rPr lang="en-US" dirty="0" smtClean="0"/>
                  <a:t> </a:t>
                </a:r>
              </a:p>
              <a:p>
                <a:pPr hangingPunct="0"/>
                <a:r>
                  <a:rPr lang="en-US" dirty="0" smtClean="0"/>
                  <a:t>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is the 3x3 mass moment of inertia of the link. It is diagonal matrix for the principal axes.</a:t>
                </a:r>
              </a:p>
              <a:p>
                <a:pPr hangingPunct="0"/>
                <a:endParaRPr lang="en-US" u="sng" dirty="0"/>
              </a:p>
              <a:p>
                <a:pPr hangingPunct="0"/>
                <a:endParaRPr lang="en-US" dirty="0"/>
              </a:p>
            </p:txBody>
          </p:sp>
        </mc:Choice>
        <mc:Fallback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44" y="1084020"/>
                <a:ext cx="11821311" cy="5830122"/>
              </a:xfrm>
              <a:prstGeom prst="rect">
                <a:avLst/>
              </a:prstGeom>
              <a:blipFill>
                <a:blip r:embed="rId2"/>
                <a:stretch>
                  <a:fillRect l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54575" y="144660"/>
                <a:ext cx="8153400" cy="9393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u="sng" dirty="0"/>
                  <a:t>Outward iterations: </a:t>
                </a:r>
                <a:r>
                  <a:rPr lang="en-US" dirty="0"/>
                  <a:t>for </a:t>
                </a:r>
                <a:r>
                  <a:rPr lang="en-US" dirty="0" err="1"/>
                  <a:t>i</a:t>
                </a:r>
                <a:r>
                  <a:rPr lang="en-US" dirty="0"/>
                  <a:t> = 0: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to include </a:t>
                </a:r>
                <a:r>
                  <a:rPr lang="en-US" dirty="0"/>
                  <a:t>the effect of </a:t>
                </a:r>
                <a:r>
                  <a:rPr lang="en-US" dirty="0" smtClean="0"/>
                  <a:t>gravity.</a:t>
                </a:r>
              </a:p>
              <a:p>
                <a:r>
                  <a:rPr lang="en-US" dirty="0" smtClean="0"/>
                  <a:t>It is revolute joint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cap="all" dirty="0"/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cap="all" dirty="0"/>
                  <a:t> </a:t>
                </a:r>
                <a:r>
                  <a:rPr lang="en-US" cap="all" dirty="0"/>
                  <a:t>=0 </a:t>
                </a:r>
                <a:endParaRPr lang="en-US" dirty="0" smtClean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75" y="144660"/>
                <a:ext cx="8153400" cy="939360"/>
              </a:xfrm>
              <a:prstGeom prst="rect">
                <a:avLst/>
              </a:prstGeom>
              <a:blipFill>
                <a:blip r:embed="rId3"/>
                <a:stretch>
                  <a:fillRect l="-673" t="-3896" b="-9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08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 75"/>
              <p:cNvSpPr/>
              <p:nvPr/>
            </p:nvSpPr>
            <p:spPr>
              <a:xfrm>
                <a:off x="58056" y="702217"/>
                <a:ext cx="12133944" cy="58395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cap="all" smtClean="0"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</m:acc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b="1" i="1" cap="all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sPre>
                              </m:e>
                              <m:sub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</m:sPre>
                              </m:e>
                              <m:sub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Pre>
                                      <m:sPre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en-US" b="0" i="1" cap="all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  <m:e>
                                        <m:r>
                                          <a:rPr lang="en-US" b="1" i="1" cap="all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</m:sPre>
                                  </m:e>
                                  <m:sub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d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acc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   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en-US" i="1" cap="all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 cap="all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i="1" cap="all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i="1" cap="all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cap="all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sPre>
                          </m:e>
                          <m:sub>
                            <m:sSub>
                              <m:sSubPr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b="1" i="1" cap="all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sub>
                        </m:sSub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sPre>
                              </m:e>
                              <m:sub>
                                <m:sSub>
                                  <m:sSubPr>
                                    <m:ctrlP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b="1" i="1" cap="all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sub>
                            </m:sSub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:r>
                  <a:rPr lang="en-US" cap="all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0" cap="all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cap="all" dirty="0" smtClean="0"/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i="1" cap="all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b="1" i="1" cap="all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cap="all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cap="all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b="0" i="1" cap="all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cap="all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b="0" i="1" cap="all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cap="all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b="0" i="1" cap="all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         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cap="all" dirty="0" smtClean="0"/>
                  <a:t> </a:t>
                </a:r>
                <a:endParaRPr lang="en-US" u="sng" dirty="0"/>
              </a:p>
              <a:p>
                <a:pPr hangingPunct="0"/>
                <a:endParaRPr lang="en-US" dirty="0"/>
              </a:p>
            </p:txBody>
          </p:sp>
        </mc:Choice>
        <mc:Fallback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6" y="702217"/>
                <a:ext cx="12133944" cy="58395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54575" y="43062"/>
                <a:ext cx="8153400" cy="6591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u="sng" dirty="0" smtClean="0"/>
                  <a:t>Outward iterations: </a:t>
                </a:r>
                <a:r>
                  <a:rPr lang="en-US" dirty="0"/>
                  <a:t>for 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 </a:t>
                </a:r>
                <a:r>
                  <a:rPr lang="en-US" dirty="0"/>
                  <a:t>= 1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r>
                  <a:rPr lang="en-US" dirty="0" smtClean="0"/>
                  <a:t>It is prismatic joint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cap="all" dirty="0"/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cap="all" dirty="0"/>
                  <a:t> </a:t>
                </a:r>
                <a:r>
                  <a:rPr lang="en-US" cap="all" dirty="0"/>
                  <a:t>=0 </a:t>
                </a:r>
                <a:endParaRPr lang="en-US" dirty="0" smtClean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75" y="43062"/>
                <a:ext cx="8153400" cy="659155"/>
              </a:xfrm>
              <a:prstGeom prst="rect">
                <a:avLst/>
              </a:prstGeom>
              <a:blipFill>
                <a:blip r:embed="rId3"/>
                <a:stretch>
                  <a:fillRect l="-673" t="-4630"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38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 75"/>
              <p:cNvSpPr/>
              <p:nvPr/>
            </p:nvSpPr>
            <p:spPr>
              <a:xfrm>
                <a:off x="58056" y="571588"/>
                <a:ext cx="12133944" cy="6467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cap="all" smtClean="0"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en-US" i="1" cap="all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cap="all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cap="all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 cap="all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i="1" cap="all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</m:acc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r>
                                      <a:rPr lang="en-US" b="1" i="1" cap="all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sPre>
                              </m:e>
                              <m:sub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</m:sPre>
                              </m:e>
                              <m:sub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Pre>
                                      <m:sPre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en-US" b="0" i="1" cap="all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  <m:e>
                                        <m:r>
                                          <a:rPr lang="en-US" b="1" i="1" cap="all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</m:sPre>
                                  </m:e>
                                  <m:sub>
                                    <m:r>
                                      <a:rPr lang="en-US" b="0" i="1" cap="all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d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cap="all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acc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   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 cap="all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en-US" i="1" cap="all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 cap="all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i="1" cap="all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i="1" cap="all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cap="all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  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cap="all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:endParaRPr lang="en-US" u="sng" dirty="0"/>
              </a:p>
              <a:p>
                <a:pPr hangingPunct="0"/>
                <a:endParaRPr lang="en-US" dirty="0"/>
              </a:p>
            </p:txBody>
          </p:sp>
        </mc:Choice>
        <mc:Fallback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6" y="571588"/>
                <a:ext cx="12133944" cy="6467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54575" y="144660"/>
                <a:ext cx="8153400" cy="3821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u="sng" dirty="0" smtClean="0"/>
                  <a:t>Outward iterations: </a:t>
                </a:r>
                <a:r>
                  <a:rPr lang="en-US" dirty="0"/>
                  <a:t>for 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 </a:t>
                </a:r>
                <a:r>
                  <a:rPr lang="en-US" dirty="0"/>
                  <a:t>= </a:t>
                </a:r>
                <a:r>
                  <a:rPr lang="en-US" dirty="0" smtClean="0"/>
                  <a:t>2:  </a:t>
                </a:r>
                <a:r>
                  <a:rPr lang="en-US" dirty="0"/>
                  <a:t>It is prismatic joint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cap="all" dirty="0"/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cap="all" dirty="0"/>
                  <a:t> =0 </a:t>
                </a:r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75" y="144660"/>
                <a:ext cx="8153400" cy="382156"/>
              </a:xfrm>
              <a:prstGeom prst="rect">
                <a:avLst/>
              </a:prstGeom>
              <a:blipFill>
                <a:blip r:embed="rId3"/>
                <a:stretch>
                  <a:fillRect l="-673" t="-4839" b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96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 75"/>
              <p:cNvSpPr/>
              <p:nvPr/>
            </p:nvSpPr>
            <p:spPr>
              <a:xfrm>
                <a:off x="58056" y="237759"/>
                <a:ext cx="12133944" cy="4222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cap="all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 cap="all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US" sz="1700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700" i="1" cap="all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sz="1700" b="0" i="1" cap="all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sPre>
                          </m:e>
                          <m:sub>
                            <m:sSub>
                              <m:sSubPr>
                                <m:ctrlP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1700" b="1" i="1" cap="all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sub>
                        </m:sSub>
                      </m:e>
                      <m:sub>
                        <m:r>
                          <a:rPr lang="en-US" sz="1700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700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sz="1700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700" i="1" cap="all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sz="1700" b="0" i="1" cap="all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sPre>
                          </m:e>
                          <m:sub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700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Pre>
                                  <m:sPrePr>
                                    <m:ctrlPr>
                                      <a:rPr lang="en-US" sz="1700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1700" i="1" cap="all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1700" b="0" i="1" cap="all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  <m:e>
                                    <m:r>
                                      <a:rPr lang="en-US" sz="1700" b="1" i="1" cap="all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sPre>
                              </m:e>
                              <m:sub>
                                <m:sSub>
                                  <m:sSubPr>
                                    <m:ctrlPr>
                                      <a:rPr lang="en-US" sz="1700" b="1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cap="all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1700" b="1" i="1" cap="all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sub>
                            </m:sSub>
                          </m:e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sz="1700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700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7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700" i="1" cap="all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700" b="0" i="1" cap="all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sz="1700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700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7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700" i="1" cap="all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1700" i="1" cap="all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sz="1700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1700" cap="all" dirty="0" smtClean="0"/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:r>
                  <a:rPr lang="en-US" sz="1700" cap="all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sz="1700" b="1" i="1" cap="all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700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US" sz="1700" cap="all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cap="all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700" i="1" cap="all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700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7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sz="1700" cap="all" dirty="0" smtClean="0"/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sz="1700" i="1" cap="all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sPre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700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1700" i="1" cap="all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0" i="1" cap="all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700" b="0" i="1" cap="all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1700" b="1" i="1" cap="all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</m:sPre>
                          </m:e>
                          <m:sub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sub>
                        <m:r>
                          <a:rPr lang="en-US" sz="1700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̇"/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700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sz="1700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700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sz="1700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1700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i="1" cap="all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700" b="0" i="1" cap="all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1700" b="1" i="1" cap="all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</m:sPre>
                          </m:e>
                          <m:sub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sub>
                        <m:r>
                          <a:rPr lang="en-US" sz="1700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7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sz="1700" b="1" i="1" cap="all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sPre>
                      </m:e>
                      <m:sub>
                        <m:r>
                          <a:rPr lang="en-US" sz="1700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700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700" b="0" i="1" cap="all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700" b="0" i="1" cap="all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700" b="0" i="1" cap="all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700" b="0" i="1" cap="all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 b="0" i="1" cap="all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7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700" b="0" i="1" cap="all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700" b="0" i="1" cap="all" smtClean="0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700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700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700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 b="0" i="1" cap="all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7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700" b="0" i="1" cap="all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700" b="0" i="1" cap="all" smtClean="0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700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700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700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 b="0" i="1" cap="all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7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700" b="0" i="1" cap="all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700" b="0" i="1" cap="all" smtClean="0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700" b="0" i="0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700" i="1" cap="all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sz="1700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 cap="all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7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7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7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7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7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7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7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7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7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7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7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700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700" i="1" cap="all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700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hangingPunct="0"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1700" b="0" i="0" cap="all" smtClean="0">
                        <a:latin typeface="Cambria Math" panose="02040503050406030204" pitchFamily="18" charset="0"/>
                      </a:rPr>
                      <m:t>         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700" b="0" i="1" cap="all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700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6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700" b="0" i="1" cap="all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6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700" u="sng" dirty="0" smtClean="0"/>
                  <a:t> </a:t>
                </a:r>
                <a:endParaRPr lang="en-US" sz="1700" u="sng" dirty="0"/>
              </a:p>
              <a:p>
                <a:pPr hangingPunct="0"/>
                <a:endParaRPr lang="en-US" sz="1700" dirty="0"/>
              </a:p>
            </p:txBody>
          </p:sp>
        </mc:Choice>
        <mc:Fallback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6" y="237759"/>
                <a:ext cx="12133944" cy="4222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7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2656" y="0"/>
                <a:ext cx="12159343" cy="5419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/>
                <a:r>
                  <a:rPr lang="en-US" u="sng" dirty="0" smtClean="0"/>
                  <a:t>Inward </a:t>
                </a:r>
                <a:r>
                  <a:rPr lang="en-US" u="sng" dirty="0"/>
                  <a:t>iterations: </a:t>
                </a:r>
                <a:r>
                  <a:rPr lang="en-US" u="sng" dirty="0" err="1"/>
                  <a:t>i</a:t>
                </a:r>
                <a:r>
                  <a:rPr lang="en-US" u="sng" dirty="0" smtClean="0"/>
                  <a:t> = 3 (Prismatic)</a:t>
                </a:r>
                <a:endParaRPr lang="en-US" u="sng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because </a:t>
                </a:r>
                <a:r>
                  <a:rPr lang="en-US" dirty="0"/>
                  <a:t>there is no external loads on the end-effector.</a:t>
                </a:r>
              </a:p>
              <a:p>
                <a:endParaRPr lang="en-US" i="1" cap="all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sPre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 0+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 cap="all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</m:sPre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     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</a:t>
                </a:r>
                <a:endParaRPr lang="en-US" cap="all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  <m:e>
                                <m:r>
                                  <a:rPr lang="en-US" b="1" i="1" cap="all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̈"/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     which is the force required by the linear actuator at joint 3 in N. </a:t>
                </a:r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6" y="0"/>
                <a:ext cx="12159343" cy="5419048"/>
              </a:xfrm>
              <a:prstGeom prst="rect">
                <a:avLst/>
              </a:prstGeom>
              <a:blipFill>
                <a:blip r:embed="rId2"/>
                <a:stretch>
                  <a:fillRect l="-401" t="-562" r="-251" b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05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2656" y="0"/>
                <a:ext cx="12159343" cy="65437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/>
                <a:r>
                  <a:rPr lang="en-US" u="sng" dirty="0" smtClean="0"/>
                  <a:t>Inward </a:t>
                </a:r>
                <a:r>
                  <a:rPr lang="en-US" u="sng" dirty="0"/>
                  <a:t>iterations: </a:t>
                </a:r>
                <a:r>
                  <a:rPr lang="en-US" u="sng" dirty="0" err="1"/>
                  <a:t>i</a:t>
                </a:r>
                <a:r>
                  <a:rPr lang="en-US" u="sng" dirty="0" smtClean="0"/>
                  <a:t> = 2 (Prismatic)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cap="all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    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     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cap="all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i="1" cap="all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𝑦𝑦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cap="all" dirty="0" smtClean="0"/>
              </a:p>
              <a:p>
                <a14:m>
                  <m:oMath xmlns:m="http://schemas.openxmlformats.org/officeDocument/2006/math"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𝑦𝑦</m:t>
                                      </m:r>
                                    </m:sub>
                                  </m:s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i="1" cap="all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cap="all" dirty="0" smtClean="0"/>
                  <a:t> </a:t>
                </a:r>
                <a:endParaRPr lang="en-US" cap="all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  <m:e>
                                <m:r>
                                  <a:rPr lang="en-US" b="1" i="1" cap="all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̈"/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    which is the force required by the linear actuator at joint 2 in N. </a:t>
                </a:r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6" y="0"/>
                <a:ext cx="12159343" cy="6543779"/>
              </a:xfrm>
              <a:prstGeom prst="rect">
                <a:avLst/>
              </a:prstGeom>
              <a:blipFill>
                <a:blip r:embed="rId2"/>
                <a:stretch>
                  <a:fillRect l="-401" t="-466" b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74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2656" y="0"/>
                <a:ext cx="12159343" cy="59285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/>
                <a:r>
                  <a:rPr lang="en-US" u="sng" dirty="0" smtClean="0"/>
                  <a:t>Inward </a:t>
                </a:r>
                <a:r>
                  <a:rPr lang="en-US" u="sng" dirty="0"/>
                  <a:t>iterations: </a:t>
                </a:r>
                <a:r>
                  <a:rPr lang="en-US" u="sng" dirty="0" err="1"/>
                  <a:t>i</a:t>
                </a:r>
                <a:r>
                  <a:rPr lang="en-US" u="sng" dirty="0" smtClean="0"/>
                  <a:t> = 1 (Revolute)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cap="all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cap="all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cap="all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cap="all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cap="all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  <m:sub>
                                  <m:r>
                                    <a:rPr lang="en-US" b="0" i="1" cap="all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sz="1600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sz="1600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cap="al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sz="1600" b="1" i="1" cap="all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sPre>
                      </m:e>
                      <m:sub>
                        <m:r>
                          <a:rPr lang="en-US" sz="1600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sz="1600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sz="1600" b="1" i="1" cap="all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sPre>
                      </m:e>
                      <m:sub>
                        <m:r>
                          <a:rPr lang="en-US" sz="1600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sz="1600" b="1" i="1" cap="all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sPre>
                      </m:e>
                      <m:sub>
                        <m:sSub>
                          <m:sSub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1600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sz="1600" b="1" i="1" cap="all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sPre>
                      </m:e>
                      <m:sub>
                        <m:r>
                          <a:rPr lang="en-US" sz="1600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sz="1600" b="1" i="1" cap="all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sPre>
                      </m:e>
                      <m:sub>
                        <m:r>
                          <a:rPr lang="en-US" sz="1600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sPre>
                      </m:e>
                      <m:sub>
                        <m:r>
                          <a:rPr lang="en-US" sz="1600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en-US" sz="16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sz="1600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1600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sz="1600" b="0" i="1" cap="all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a:rPr lang="en-US" sz="1600" b="1" i="1" cap="all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sPre>
                      </m:e>
                      <m:sub>
                        <m:r>
                          <a:rPr lang="en-US" sz="1600" b="0" i="1" cap="all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1500" b="0" i="1" cap="all" smtClean="0">
                        <a:latin typeface="Cambria Math" panose="02040503050406030204" pitchFamily="18" charset="0"/>
                      </a:rPr>
                      <m:t>          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5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5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5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5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sz="1500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15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5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5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5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5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5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5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5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5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5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5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5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5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𝑦𝑦</m:t>
                                      </m:r>
                                    </m:sub>
                                  </m:s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500" i="1" cap="all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500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1500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500" i="1" cap="all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</m:m>
                      </m:e>
                    </m:d>
                    <m:r>
                      <a:rPr lang="en-US" sz="1500" b="0" i="1" cap="all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500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5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5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5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sz="1500" i="1" cap="all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500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5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5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5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5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sz="1500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sz="1400" i="1" cap="all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600" b="0" i="1" cap="all" smtClean="0">
                        <a:latin typeface="Cambria Math" panose="02040503050406030204" pitchFamily="18" charset="0"/>
                      </a:rPr>
                      <m:t>          =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6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Pre>
                                            <m:sPre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PrePr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sup>
                                            <m:e>
                                              <m:r>
                                                <a:rPr lang="en-US" sz="1600" b="1" i="1" cap="all">
                                                  <a:latin typeface="Cambria Math" panose="02040503050406030204" pitchFamily="18" charset="0"/>
                                                </a:rPr>
                                                <m:t>𝑰</m:t>
                                              </m:r>
                                            </m:e>
                                          </m:sPre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1600" cap="all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16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6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6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𝑦𝑦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 cap="all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600" b="0" i="0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600" i="1" cap="al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sz="1600" i="1" cap="all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600" b="0" i="1" cap="all" smtClean="0">
                        <a:latin typeface="Cambria Math" panose="02040503050406030204" pitchFamily="18" charset="0"/>
                      </a:rPr>
                      <m:t>          =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1600" i="1" cap="al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6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r>
                                    <a:rPr lang="en-US" sz="1600" b="0" i="1" cap="all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6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600" b="0" i="1" cap="all" smtClean="0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6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𝑦𝑦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 cap="all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600" b="0" i="1" cap="all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600" i="1" cap="all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1600" b="0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i="1" cap="all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sz="1600" b="0" cap="all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1600" b="0" i="1" cap="all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i="1" cap="all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6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6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1600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Pre>
                                                <m:sPrePr>
                                                  <m:ctrlP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PrePr>
                                                <m:sub>
                                                  <m:r>
                                                    <a:rPr lang="en-US" sz="1600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𝐶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  <m:e>
                                                  <m:r>
                                                    <a:rPr lang="en-US" sz="1600" b="1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𝑰</m:t>
                                                  </m:r>
                                                </m:e>
                                              </m:sPre>
                                            </m:e>
                                            <m:sub>
                                              <m:r>
                                                <a:rPr lang="en-US" sz="1600" i="1" cap="all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𝑦𝑦</m:t>
                                      </m:r>
                                    </m:sub>
                                  </m:s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 cap="all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̇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 cap="all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 cap="all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cap="all" dirty="0" smtClean="0"/>
                  <a:t> </a:t>
                </a: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6" y="0"/>
                <a:ext cx="12159343" cy="5928546"/>
              </a:xfrm>
              <a:prstGeom prst="rect">
                <a:avLst/>
              </a:prstGeom>
              <a:blipFill>
                <a:blip r:embed="rId2"/>
                <a:stretch>
                  <a:fillRect l="-401" t="-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86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6199" y="3091543"/>
            <a:ext cx="8534402" cy="2336800"/>
          </a:xfrm>
          <a:prstGeom prst="rect">
            <a:avLst/>
          </a:prstGeom>
          <a:solidFill>
            <a:srgbClr val="5B9BD5">
              <a:alpha val="1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2656" y="449941"/>
                <a:ext cx="12159343" cy="2065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hangingPunct="0"/>
                <a14:m>
                  <m:oMath xmlns:m="http://schemas.openxmlformats.org/officeDocument/2006/math">
                    <m:sSub>
                      <m:sSubPr>
                        <m:ctrlPr>
                          <a:rPr lang="en-US" i="1" cap="all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a:rPr lang="en-US" b="1" i="1" cap="all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Pre>
                              <m:sPre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i="1" cap="all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b="0" i="1" cap="all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a:rPr lang="en-US" b="1" i="1" cap="all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sPre>
                          </m:e>
                          <m:sub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0" i="1" cap="all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 cap="all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</m:acc>
                          </m:e>
                        </m:sPre>
                      </m:e>
                      <m:sub>
                        <m:r>
                          <a:rPr lang="en-US" b="0" i="1" cap="all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cap="all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̈"/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d>
                                    <m:d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sPre>
                                                    <m:sPre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PrePr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sub>
                                                    <m:sup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𝐶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sub>
                                                      </m:sSub>
                                                    </m:sup>
                                                    <m:e>
                                                      <m:r>
                                                        <a:rPr lang="en-US" b="1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𝑰</m:t>
                                                      </m:r>
                                                    </m:e>
                                                  </m:sPre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𝑧𝑧</m:t>
                                          </m:r>
                                        </m:sub>
                                      </m:s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sPre>
                                                    <m:sPre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PrePr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sub>
                                                    <m:sup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𝐶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b>
                                                      </m:sSub>
                                                    </m:sup>
                                                    <m:e>
                                                      <m:r>
                                                        <a:rPr lang="en-US" b="1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𝑰</m:t>
                                                      </m:r>
                                                    </m:e>
                                                  </m:sPre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𝑧𝑧</m:t>
                                          </m:r>
                                        </m:sub>
                                      </m:s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 cap="all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sPre>
                                                    <m:sPrePr>
                                                      <m:ctrlP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PrePr>
                                                    <m:sub>
                                                      <m:r>
                                                        <a:rPr lang="en-US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 </m:t>
                                                      </m:r>
                                                    </m:sub>
                                                    <m:sup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𝐶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i="1" cap="all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3</m:t>
                                                          </m:r>
                                                        </m:sub>
                                                      </m:sSub>
                                                    </m:sup>
                                                    <m:e>
                                                      <m:r>
                                                        <a:rPr lang="en-US" b="1" i="1" cap="all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𝑰</m:t>
                                                      </m:r>
                                                    </m:e>
                                                  </m:sPre>
                                                </m:e>
                                                <m:sub>
                                                  <m:r>
                                                    <a:rPr lang="en-US" i="1" cap="all">
                                                      <a:latin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𝑦𝑦</m:t>
                                          </m:r>
                                        </m:sub>
                                      </m:s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cap="al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cap="all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cap="all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cap="all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hangingPunct="0"/>
                <a:r>
                  <a:rPr lang="en-US" b="0" dirty="0" smtClean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Pre>
                                      <m:sPre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b="1" i="1" cap="all">
                                            <a:latin typeface="Cambria Math" panose="02040503050406030204" pitchFamily="18" charset="0"/>
                                          </a:rPr>
                                          <m:t>𝑰</m:t>
                                        </m:r>
                                      </m:e>
                                    </m:sPre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𝑧𝑧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Pre>
                                      <m:sPre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b="1" i="1" cap="all">
                                            <a:latin typeface="Cambria Math" panose="02040503050406030204" pitchFamily="18" charset="0"/>
                                          </a:rPr>
                                          <m:t>𝑰</m:t>
                                        </m:r>
                                      </m:e>
                                    </m:sPre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𝑧𝑧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 cap="all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Pre>
                                      <m:sPre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b="1" i="1" cap="all">
                                            <a:latin typeface="Cambria Math" panose="02040503050406030204" pitchFamily="18" charset="0"/>
                                          </a:rPr>
                                          <m:t>𝑰</m:t>
                                        </m:r>
                                      </m:e>
                                    </m:sPre>
                                  </m:e>
                                  <m: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sSup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sup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cap="all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cap="all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cap="all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cap="all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i="1" cap="all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  which is the torque required by the rotary actuator (motor) at joint 1 in N.m. </a:t>
                </a:r>
                <a:endParaRPr lang="en-US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6" y="449941"/>
                <a:ext cx="12159343" cy="2065822"/>
              </a:xfrm>
              <a:prstGeom prst="rect">
                <a:avLst/>
              </a:prstGeom>
              <a:blipFill>
                <a:blip r:embed="rId2"/>
                <a:stretch>
                  <a:fillRect l="-401" r="-351" b="-3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14085" y="3816168"/>
                <a:ext cx="6718762" cy="13194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cap="all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i="1" cap="all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i="1" cap="all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b="1" i="1" cap="all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𝝉</m:t>
                              </m:r>
                            </m:e>
                          </m:sPre>
                        </m:e>
                        <m:sub>
                          <m:r>
                            <a:rPr lang="en-US" b="0" i="1" cap="all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cap="all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cap="all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d>
                                      <m:d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sPre>
                                                      <m:sPrePr>
                                                        <m:ctrlPr>
                                                          <a:rPr lang="en-US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PrePr>
                                                      <m:sub>
                                                        <m:r>
                                                          <a:rPr lang="en-US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</m:sub>
                                                      <m:sup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𝐶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sub>
                                                        </m:sSub>
                                                      </m:sup>
                                                      <m:e>
                                                        <m:r>
                                                          <a:rPr lang="en-US" b="1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𝑰</m:t>
                                                        </m:r>
                                                      </m:e>
                                                    </m:sPre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𝑧𝑧</m:t>
                                            </m:r>
                                          </m:sub>
                                        </m:s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sPre>
                                                      <m:sPrePr>
                                                        <m:ctrlPr>
                                                          <a:rPr lang="en-US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PrePr>
                                                      <m:sub>
                                                        <m:r>
                                                          <a:rPr lang="en-US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</m:sub>
                                                      <m:sup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𝐶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2</m:t>
                                                            </m:r>
                                                          </m:sub>
                                                        </m:sSub>
                                                      </m:sup>
                                                      <m:e>
                                                        <m:r>
                                                          <a:rPr lang="en-US" b="1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𝑰</m:t>
                                                        </m:r>
                                                      </m:e>
                                                    </m:sPre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𝑧𝑧</m:t>
                                            </m:r>
                                          </m:sub>
                                        </m:s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sPre>
                                                      <m:sPrePr>
                                                        <m:ctrlPr>
                                                          <a:rPr lang="en-US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PrePr>
                                                      <m:sub>
                                                        <m:r>
                                                          <a:rPr lang="en-US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 </m:t>
                                                        </m:r>
                                                      </m:sub>
                                                      <m:sup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𝐶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i="1" cap="all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3</m:t>
                                                            </m:r>
                                                          </m:sub>
                                                        </m:sSub>
                                                      </m:sup>
                                                      <m:e>
                                                        <m:r>
                                                          <a:rPr lang="en-US" b="1" i="1" cap="all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𝑰</m:t>
                                                        </m:r>
                                                      </m:e>
                                                    </m:sPre>
                                                  </m:e>
                                                  <m:sub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𝑦𝑦</m:t>
                                            </m:r>
                                          </m:sub>
                                        </m:s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̈"/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 cap="all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̈"/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cap="all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̇"/>
                                                    <m:ctrlP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i="1" cap="all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̈"/>
                                                <m:ctrlP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 cap="all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 cap="all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cap="all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85" y="3816168"/>
                <a:ext cx="6718762" cy="1319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2657" y="3234794"/>
            <a:ext cx="121593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b="1" dirty="0" smtClean="0"/>
              <a:t>The equations of motion of the system, then, are defined as follows:</a:t>
            </a:r>
            <a:endParaRPr lang="en-US" b="1" dirty="0"/>
          </a:p>
        </p:txBody>
      </p:sp>
      <p:pic>
        <p:nvPicPr>
          <p:cNvPr id="10" name="Picture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191" y="2867531"/>
            <a:ext cx="3494265" cy="27848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6723554" y="3971389"/>
                <a:ext cx="1617751" cy="8301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  <m:brk m:alnAt="7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torque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force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force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54" y="3971389"/>
                <a:ext cx="1617751" cy="8301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67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20</a:t>
            </a:fld>
            <a:endParaRPr lang="en-US"/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3" t="7319" r="7670"/>
          <a:stretch/>
        </p:blipFill>
        <p:spPr>
          <a:xfrm>
            <a:off x="8340436" y="422610"/>
            <a:ext cx="3851564" cy="38060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089" y="422610"/>
            <a:ext cx="77793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Helvetica" panose="020B0604020202030204" pitchFamily="34" charset="0"/>
              </a:rPr>
              <a:t>Problem</a:t>
            </a:r>
            <a:r>
              <a:rPr lang="en-US" b="1" dirty="0" smtClean="0">
                <a:latin typeface="Helvetica" panose="020B0604020202030204" pitchFamily="34" charset="0"/>
              </a:rPr>
              <a:t> 3:</a:t>
            </a:r>
            <a:r>
              <a:rPr lang="en-US" dirty="0" smtClean="0">
                <a:latin typeface="Helvetica" panose="020B0604020202030204" pitchFamily="34" charset="0"/>
              </a:rPr>
              <a:t> Using the Lagrange equation method find the equations of motion of the RR serial manipulator shown in the figure.</a:t>
            </a:r>
          </a:p>
          <a:p>
            <a:r>
              <a:rPr lang="en-US" dirty="0" smtClean="0">
                <a:latin typeface="Helvetica" panose="020B0604020202030204" pitchFamily="34" charset="0"/>
              </a:rPr>
              <a:t>The rigid homogenous bars forming the links L1 and L2 have respectively (L1, m1) and (L2, m2) as length and mass. Their centers of mass are located at the middle.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8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D04A5-0AA7-45AC-A1A6-676A0E6C61B5}" type="datetime1">
              <a:rPr lang="en-US" smtClean="0"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Hassan Diab - Solid Mechanics CCE 210M – Spring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D40A-BAFB-460A-83CC-63551598AF6B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/>
          <a:stretch/>
        </p:blipFill>
        <p:spPr>
          <a:xfrm>
            <a:off x="7926802" y="237944"/>
            <a:ext cx="4110796" cy="274078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7363" y="237944"/>
            <a:ext cx="74260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Helvetica" panose="020B0604020202030204" pitchFamily="34" charset="0"/>
              </a:rPr>
              <a:t>Problem 4: </a:t>
            </a:r>
            <a:r>
              <a:rPr lang="en-US" dirty="0">
                <a:latin typeface="Helvetica" panose="020B0604020202030204" pitchFamily="34" charset="0"/>
              </a:rPr>
              <a:t>Using the Iterative Newton-Euler dynamic </a:t>
            </a:r>
            <a:r>
              <a:rPr lang="en-US" dirty="0" smtClean="0">
                <a:latin typeface="Helvetica" panose="020B0604020202030204" pitchFamily="34" charset="0"/>
              </a:rPr>
              <a:t>formulation method </a:t>
            </a:r>
            <a:r>
              <a:rPr lang="en-US" dirty="0">
                <a:latin typeface="Helvetica" panose="020B0604020202030204" pitchFamily="34" charset="0"/>
              </a:rPr>
              <a:t>find the equations of motion of the </a:t>
            </a:r>
            <a:r>
              <a:rPr lang="en-US" dirty="0" smtClean="0">
                <a:latin typeface="Helvetica" panose="020B0604020202030204" pitchFamily="34" charset="0"/>
              </a:rPr>
              <a:t>RP </a:t>
            </a:r>
            <a:r>
              <a:rPr lang="en-US" dirty="0">
                <a:latin typeface="Helvetica" panose="020B0604020202030204" pitchFamily="34" charset="0"/>
              </a:rPr>
              <a:t>serial manipulator shown in the figure.</a:t>
            </a:r>
            <a:r>
              <a:rPr lang="en-US" b="1" dirty="0" smtClean="0">
                <a:latin typeface="Helvetica" panose="020B0604020202030204" pitchFamily="34" charset="0"/>
              </a:rPr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775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7046</TotalTime>
  <Words>658</Words>
  <Application>Microsoft Office PowerPoint</Application>
  <PresentationFormat>Widescreen</PresentationFormat>
  <Paragraphs>294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Hassan DIAB</dc:creator>
  <cp:lastModifiedBy>Hassan Diab</cp:lastModifiedBy>
  <cp:revision>255</cp:revision>
  <dcterms:created xsi:type="dcterms:W3CDTF">2017-01-10T18:09:41Z</dcterms:created>
  <dcterms:modified xsi:type="dcterms:W3CDTF">2021-01-09T01:44:40Z</dcterms:modified>
</cp:coreProperties>
</file>